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ScopeShift  |  PS/P42  |  1/8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PS/P42  |  EVIDENCE-GOVERNED BRD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0" b="1" i="0">
                <a:solidFill>
                  <a:srgbClr val="F8FAFC"/>
                </a:solidFill>
                <a:latin typeface="Calibri"/>
              </a:rPr>
              <a:t>ScopeShift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94A3B8"/>
                </a:solidFill>
                <a:latin typeface="Calibri"/>
              </a:rPr>
              <a:t>From conflicting evidence to governed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  <a:latin typeface="Calibri"/>
              </a:rPr>
              <a:t>“Seeing a button is not approving the button.”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Calibri"/>
              </a:rPr>
              <a:t>One checkout feature. Three sources. Three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ScopeShift  |  PS/P42  |  2/8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BRD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UPI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“Checkout shall support UPI payments only.”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Card button 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2044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A UI observation. Nobody approved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92024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05740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CLIENT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51460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Card in scope, UPI to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352044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“Checkout shall support Card payments. UPI moves to Phase 2.”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AI can extract all three facts. The hard part is deciding what is allowed to become a requirement.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WHY CURRENT AI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Calibri"/>
              </a:rPr>
              <a:t>Today’s AI picks an answer. Nobody can audit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ScopeShift  |  PS/P42  |  3/8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22320" cy="91440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32308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 i="0">
                <a:solidFill>
                  <a:srgbClr val="F8FAFC"/>
                </a:solidFill>
                <a:latin typeface="Calibri"/>
              </a:rPr>
              <a:t>Documents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0980" y="2039112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19600" y="1737360"/>
            <a:ext cx="3322320" cy="91440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1737360"/>
            <a:ext cx="32308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 i="0">
                <a:solidFill>
                  <a:srgbClr val="F8FAFC"/>
                </a:solidFill>
                <a:latin typeface="Calibri"/>
              </a:rPr>
              <a:t>LLM summary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10499" y="2039112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99119" y="1737360"/>
            <a:ext cx="3322320" cy="91440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4839" y="1737360"/>
            <a:ext cx="32308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 i="0">
                <a:solidFill>
                  <a:srgbClr val="F8FAFC"/>
                </a:solidFill>
                <a:latin typeface="Calibri"/>
              </a:rPr>
              <a:t>“Card is supported”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82296" cy="1371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Calibri"/>
              </a:rPr>
              <a:t>Observation becomes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4892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A visible button is treated as a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08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108960"/>
            <a:ext cx="82296" cy="1371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46120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Calibri"/>
              </a:rPr>
              <a:t>Provenance is lost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94760"/>
            <a:ext cx="4892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No link from the answer back to its source.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63440"/>
            <a:ext cx="82296" cy="1371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Calibri"/>
              </a:rPr>
              <a:t>No explanation of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4892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Cannot say what changed, or why.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6634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663440"/>
            <a:ext cx="82296" cy="1371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800600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Calibri"/>
              </a:rPr>
              <a:t>No safe undo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349240"/>
            <a:ext cx="4892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A withdrawn decision stays baked into the summary.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Calibri"/>
              </a:rPr>
              <a:t>Gemini extracts the evidence. Code decides the authority.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ScopeShift  |  PS/P42  |  4/8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920240" cy="109728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82880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Evidence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60320" y="2221992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360" y="1828800"/>
            <a:ext cx="1920240" cy="109728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182880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Citation validation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00600" y="2221992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1828800"/>
            <a:ext cx="1920240" cy="109728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828800"/>
            <a:ext cx="182880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Append-only event log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40880" y="2221992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1828800"/>
            <a:ext cx="1920240" cy="109728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828800"/>
            <a:ext cx="182880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Deterministic resolver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81160" y="2221992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0" y="1828800"/>
            <a:ext cx="1920240" cy="109728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828800"/>
            <a:ext cx="182880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Current BRD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82296" cy="21031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11879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Gemini = extractor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48920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Reads PDF, screenshot and note.</a:t>
            </a:r>
          </a:p>
          <a:p>
            <a:pPr algn="l">
              <a:spcBef>
                <a:spcPts val="640"/>
              </a:spcBef>
            </a:pPr>
            <a:r>
              <a:rPr sz="1600" b="0" i="0">
                <a:solidFill>
                  <a:srgbClr val="94A3B8"/>
                </a:solidFill>
                <a:latin typeface="Calibri"/>
              </a:rPr>
              <a:t>Returns structured claims constrained to a fixed schema.</a:t>
            </a:r>
          </a:p>
          <a:p>
            <a:pPr algn="l">
              <a:spcBef>
                <a:spcPts val="640"/>
              </a:spcBef>
            </a:pPr>
            <a:r>
              <a:rPr sz="1600" b="0" i="0">
                <a:solidFill>
                  <a:srgbClr val="94A3B8"/>
                </a:solidFill>
                <a:latin typeface="Calibri"/>
              </a:rPr>
              <a:t>Never assigns source IDs. Never grants authority.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47472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474720"/>
            <a:ext cx="82296" cy="21031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611879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Code = authority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160520"/>
            <a:ext cx="48920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A requirement is promoted only if the client note</a:t>
            </a:r>
          </a:p>
          <a:p>
            <a:pPr algn="l">
              <a:spcBef>
                <a:spcPts val="640"/>
              </a:spcBef>
            </a:pPr>
            <a:r>
              <a:rPr sz="1600" b="0" i="0">
                <a:solidFill>
                  <a:srgbClr val="94A3B8"/>
                </a:solidFill>
                <a:latin typeface="Calibri"/>
              </a:rPr>
              <a:t>explicitly changes scope and its quote is verified.</a:t>
            </a:r>
          </a:p>
          <a:p>
            <a:pPr algn="l">
              <a:spcBef>
                <a:spcPts val="640"/>
              </a:spcBef>
            </a:pPr>
            <a:r>
              <a:rPr sz="1600" b="0" i="0">
                <a:solidFill>
                  <a:srgbClr val="94A3B8"/>
                </a:solidFill>
                <a:latin typeface="Calibri"/>
              </a:rPr>
              <a:t>Screenshots can never grant authority.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THE WINNING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Calibri"/>
              </a:rPr>
              <a:t>DISPUTED → GOVERNED → DISPUTED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ScopeShift  |  PS/P42  |  5/8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4023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381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BEAT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 i="0">
                <a:solidFill>
                  <a:srgbClr val="F59E0B"/>
                </a:solidFill>
                <a:latin typeface="Calibri"/>
              </a:rPr>
              <a:t>DISPUTED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301752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BRD and screenshot conflict.</a:t>
            </a:r>
          </a:p>
          <a:p>
            <a:pPr algn="l">
              <a:spcBef>
                <a:spcPts val="720"/>
              </a:spcBef>
            </a:pPr>
            <a:r>
              <a:rPr sz="1800" b="0" i="0">
                <a:solidFill>
                  <a:srgbClr val="F8FAFC"/>
                </a:solidFill>
                <a:latin typeface="Calibri"/>
              </a:rPr>
              <a:t>Requirement withheld.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74720" cy="4023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381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BEAT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 i="0">
                <a:solidFill>
                  <a:srgbClr val="22C55E"/>
                </a:solidFill>
                <a:latin typeface="Calibri"/>
              </a:rPr>
              <a:t>GOVERNED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20440"/>
            <a:ext cx="301752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Client note explicitly authorizes Card.</a:t>
            </a:r>
          </a:p>
          <a:p>
            <a:pPr algn="l">
              <a:spcBef>
                <a:spcPts val="720"/>
              </a:spcBef>
            </a:pPr>
            <a:r>
              <a:rPr sz="1800" b="0" i="0">
                <a:solidFill>
                  <a:srgbClr val="F8FAFC"/>
                </a:solidFill>
                <a:latin typeface="Calibri"/>
              </a:rPr>
              <a:t>Requirement enters the BRD with its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828800"/>
            <a:ext cx="3474720" cy="4023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381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96596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BEAT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42316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 i="0">
                <a:solidFill>
                  <a:srgbClr val="F59E0B"/>
                </a:solidFill>
                <a:latin typeface="Calibri"/>
              </a:rPr>
              <a:t>DISPUTED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3520440"/>
            <a:ext cx="301752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Calibri"/>
              </a:rPr>
              <a:t>Client decision is withdrawn.</a:t>
            </a:r>
          </a:p>
          <a:p>
            <a:pPr algn="l">
              <a:spcBef>
                <a:spcPts val="720"/>
              </a:spcBef>
            </a:pPr>
            <a:r>
              <a:rPr sz="1800" b="0" i="0">
                <a:solidFill>
                  <a:srgbClr val="F8FAFC"/>
                </a:solidFill>
                <a:latin typeface="Calibri"/>
              </a:rPr>
              <a:t>Requirement disappears. The reason stays visible.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Live Interactive Cockpit: 3D Spatial Topology Matrix (Three.js) • Time-Travel Scrubber • Deep Citation Inspector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HOW IT WORKS TECHNICALLY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Calibri"/>
              </a:rPr>
              <a:t>Four blocks. One accountable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ScopeShift  |  PS/P42  |  6/8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82296" cy="16916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Calibri"/>
              </a:rPr>
              <a:t>Gemini structured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8920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Claims constrained to an enum of claim IDs, with quote and proposed scope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82296" cy="16916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Calibri"/>
              </a:rPr>
              <a:t>Code-level quote and schema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48920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Quotes must exist in the source text. Hallucinated claims are rejected.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82296" cy="16916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Calibri"/>
              </a:rPr>
              <a:t>BigQuery append-only event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48920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ADDED and REMOVED events, ordered by sequence. Insert-only by application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56616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566160"/>
            <a:ext cx="82296" cy="16916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03320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Calibri"/>
              </a:rPr>
              <a:t>Generic deterministic resolver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51960"/>
            <a:ext cx="48920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resolve(claim_id, active_evidence). Keyed by claim, not by payment methods.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BigQuery is the persisted append-only log. The demo reads through an in-memory mirror of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WHAT MAKES SCOPESHIFT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Calibri"/>
              </a:rPr>
              <a:t>A requirements system, not a document summarizer.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ScopeShift  |  PS/P42  |  7/8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76072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8FAFC"/>
                          </a:solidFill>
                          <a:latin typeface="Calibri"/>
                        </a:rPr>
                        <a:t>Typical AI document tool</a:t>
                      </a:r>
                    </a:p>
                  </a:txBody>
                  <a:tcPr anchor="ctr" marL="228600"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8FAFC"/>
                          </a:solidFill>
                          <a:latin typeface="Calibri"/>
                        </a:rPr>
                        <a:t>ScopeShift</a:t>
                      </a:r>
                    </a:p>
                  </a:txBody>
                  <a:tcPr anchor="ctr" marL="228600">
                    <a:solidFill>
                      <a:srgbClr val="2A35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94A3B8"/>
                          </a:solidFill>
                          <a:latin typeface="Calibri"/>
                        </a:rPr>
                        <a:t>Summarizes documents</a:t>
                      </a:r>
                    </a:p>
                  </a:txBody>
                  <a:tcPr anchor="ctr" marL="228600">
                    <a:solidFill>
                      <a:srgbClr val="15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2C55E"/>
                          </a:solidFill>
                          <a:latin typeface="Calibri"/>
                        </a:rPr>
                        <a:t>Produces governed requirements</a:t>
                      </a:r>
                    </a:p>
                  </a:txBody>
                  <a:tcPr anchor="ctr" marL="228600">
                    <a:solidFill>
                      <a:srgbClr val="151C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94A3B8"/>
                          </a:solidFill>
                          <a:latin typeface="Calibri"/>
                        </a:rPr>
                        <a:t>Trusts model judgment</a:t>
                      </a:r>
                    </a:p>
                  </a:txBody>
                  <a:tcPr anchor="ctr" marL="228600">
                    <a:solidFill>
                      <a:srgbClr val="15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2C55E"/>
                          </a:solidFill>
                          <a:latin typeface="Calibri"/>
                        </a:rPr>
                        <a:t>Separates extraction from authority</a:t>
                      </a:r>
                    </a:p>
                  </a:txBody>
                  <a:tcPr anchor="ctr" marL="228600">
                    <a:solidFill>
                      <a:srgbClr val="151C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94A3B8"/>
                          </a:solidFill>
                          <a:latin typeface="Calibri"/>
                        </a:rPr>
                        <a:t>Loses provenance</a:t>
                      </a:r>
                    </a:p>
                  </a:txBody>
                  <a:tcPr anchor="ctr" marL="228600">
                    <a:solidFill>
                      <a:srgbClr val="15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2C55E"/>
                          </a:solidFill>
                          <a:latin typeface="Calibri"/>
                        </a:rPr>
                        <a:t>Every requirement has validated citations</a:t>
                      </a:r>
                    </a:p>
                  </a:txBody>
                  <a:tcPr anchor="ctr" marL="228600">
                    <a:solidFill>
                      <a:srgbClr val="151C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94A3B8"/>
                          </a:solidFill>
                          <a:latin typeface="Calibri"/>
                        </a:rPr>
                        <a:t>Overwrites the current answer</a:t>
                      </a:r>
                    </a:p>
                  </a:txBody>
                  <a:tcPr anchor="ctr" marL="228600">
                    <a:solidFill>
                      <a:srgbClr val="15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2C55E"/>
                          </a:solidFill>
                          <a:latin typeface="Calibri"/>
                        </a:rPr>
                        <a:t>Replays an append-only history</a:t>
                      </a:r>
                    </a:p>
                  </a:txBody>
                  <a:tcPr anchor="ctr" marL="228600">
                    <a:solidFill>
                      <a:srgbClr val="151C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94A3B8"/>
                          </a:solidFill>
                          <a:latin typeface="Calibri"/>
                        </a:rPr>
                        <a:t>Hard to undo</a:t>
                      </a:r>
                    </a:p>
                  </a:txBody>
                  <a:tcPr anchor="ctr" marL="228600">
                    <a:solidFill>
                      <a:srgbClr val="15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2C55E"/>
                          </a:solidFill>
                          <a:latin typeface="Calibri"/>
                        </a:rPr>
                        <a:t>Withdrawal recomputes the current BRD</a:t>
                      </a:r>
                    </a:p>
                  </a:txBody>
                  <a:tcPr anchor="ctr" marL="228600">
                    <a:solidFill>
                      <a:srgbClr val="151C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BUILD PLAN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Calibri"/>
              </a:rPr>
              <a:t>A 24-hour build, scoped to one unforgettable scenario.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ScopeShift  |  PS/P42  |  8/8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5486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737360"/>
            <a:ext cx="26060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Ingest PDF, screenshot, client note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5486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37360"/>
            <a:ext cx="26060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Extract structured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3736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737360"/>
            <a:ext cx="5486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59" y="1737360"/>
            <a:ext cx="26060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Validate citations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154680"/>
            <a:ext cx="5486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154680"/>
            <a:ext cx="26060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Run resolver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15468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154680"/>
            <a:ext cx="5486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154680"/>
            <a:ext cx="26060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Demonstrate three state transitions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15468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5875">
            <a:solidFill>
              <a:srgbClr val="2A3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3154680"/>
            <a:ext cx="5486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59" y="3154680"/>
            <a:ext cx="26060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Package replayable demo + fallback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600" b="1" i="0">
                <a:solidFill>
                  <a:srgbClr val="F8FAFC"/>
                </a:solidFill>
                <a:latin typeface="Calibri"/>
              </a:rPr>
              <a:t>ScopeShift turns AI from a requirements guesser into an accountable requirements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APPENDIX: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Calibri"/>
              </a:rPr>
              <a:t>Empirical validation: Plain Gemini vs Hinted vs ScopeShift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ScopeShift  |  PS/P42  | 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Controlled experiment: 10 independent runs per condition on checkout fixtures (API default temp).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2024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3474720"/>
                <a:gridCol w="2103120"/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anchor="ctr" marL="137160"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Test A (Note Present)</a:t>
                      </a:r>
                    </a:p>
                  </a:txBody>
                  <a:tcPr anchor="ctr" marL="137160"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Test B (Note Removed / Screenshot Only)</a:t>
                      </a:r>
                    </a:p>
                  </a:txBody>
                  <a:tcPr anchor="ctr" marL="137160"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Citations Valid</a:t>
                      </a:r>
                    </a:p>
                  </a:txBody>
                  <a:tcPr anchor="ctr" marL="137160">
                    <a:solidFill>
                      <a:srgbClr val="2A355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4A3B8"/>
                          </a:solidFill>
                          <a:latin typeface="Calibri"/>
                        </a:rPr>
                        <a:t>Plain Gemini (No Hints)</a:t>
                      </a:r>
                    </a:p>
                  </a:txBody>
                  <a:tcPr anchor="ctr" marL="137160">
                    <a:solidFill>
                      <a:srgbClr val="15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Calibri"/>
                        </a:rPr>
                        <a:t>10/10 Card settled</a:t>
                      </a:r>
                    </a:p>
                  </a:txBody>
                  <a:tcPr anchor="ctr" marL="137160">
                    <a:solidFill>
                      <a:srgbClr val="15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9E0B"/>
                          </a:solidFill>
                          <a:latin typeface="Calibri"/>
                        </a:rPr>
                        <a:t>0/10 Correct (10/10 settled Card from UI button!)</a:t>
                      </a:r>
                    </a:p>
                  </a:txBody>
                  <a:tcPr anchor="ctr" marL="137160">
                    <a:solidFill>
                      <a:srgbClr val="15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Calibri"/>
                        </a:rPr>
                        <a:t>0% (screenshot unverifiable)</a:t>
                      </a:r>
                    </a:p>
                  </a:txBody>
                  <a:tcPr anchor="ctr" marL="137160">
                    <a:solidFill>
                      <a:srgbClr val="151C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4A3B8"/>
                          </a:solidFill>
                          <a:latin typeface="Calibri"/>
                        </a:rPr>
                        <a:t>Hinted Prompt</a:t>
                      </a:r>
                    </a:p>
                  </a:txBody>
                  <a:tcPr anchor="ctr" marL="137160">
                    <a:solidFill>
                      <a:srgbClr val="15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Calibri"/>
                        </a:rPr>
                        <a:t>10/10 Card settled</a:t>
                      </a:r>
                    </a:p>
                  </a:txBody>
                  <a:tcPr anchor="ctr" marL="137160">
                    <a:solidFill>
                      <a:srgbClr val="15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Calibri"/>
                        </a:rPr>
                        <a:t>Flaky / Drift across runs</a:t>
                      </a:r>
                    </a:p>
                  </a:txBody>
                  <a:tcPr anchor="ctr" marL="137160">
                    <a:solidFill>
                      <a:srgbClr val="15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Calibri"/>
                        </a:rPr>
                        <a:t>Prompt-dependent</a:t>
                      </a:r>
                    </a:p>
                  </a:txBody>
                  <a:tcPr anchor="ctr" marL="137160">
                    <a:solidFill>
                      <a:srgbClr val="151C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C55E"/>
                          </a:solidFill>
                          <a:latin typeface="Calibri"/>
                        </a:rPr>
                        <a:t>ScopeShift (Ours)</a:t>
                      </a:r>
                    </a:p>
                  </a:txBody>
                  <a:tcPr anchor="ctr" marL="137160">
                    <a:solidFill>
                      <a:srgbClr val="1A2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C55E"/>
                          </a:solidFill>
                          <a:latin typeface="Calibri"/>
                        </a:rPr>
                        <a:t>100% GOVERNED</a:t>
                      </a:r>
                    </a:p>
                  </a:txBody>
                  <a:tcPr anchor="ctr" marL="137160">
                    <a:solidFill>
                      <a:srgbClr val="1A2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C55E"/>
                          </a:solidFill>
                          <a:latin typeface="Calibri"/>
                        </a:rPr>
                        <a:t>100% DISPUTED (Requirement withheld)</a:t>
                      </a:r>
                    </a:p>
                  </a:txBody>
                  <a:tcPr anchor="ctr" marL="137160">
                    <a:solidFill>
                      <a:srgbClr val="1A2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C55E"/>
                          </a:solidFill>
                          <a:latin typeface="Calibri"/>
                        </a:rPr>
                        <a:t>100% Code-verified</a:t>
                      </a:r>
                    </a:p>
                  </a:txBody>
                  <a:tcPr anchor="ctr" marL="137160">
                    <a:solidFill>
                      <a:srgbClr val="1A284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Takeaway: In Test B, unassisted LLMs treat the visible button as authority 100% of the time.
ScopeShift separates extraction from authority, eliminating false positive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