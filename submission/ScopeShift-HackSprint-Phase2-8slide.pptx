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1/8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ENTERPRISE  |  EVIDENCE-GOVERNED BRD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000" b="1" i="0">
                <a:solidFill>
                  <a:srgbClr val="F8FAFC"/>
                </a:solidFill>
                <a:latin typeface="Calibri"/>
              </a:rPr>
              <a:t>ScopeShift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 i="0">
                <a:solidFill>
                  <a:srgbClr val="94A3B8"/>
                </a:solidFill>
                <a:latin typeface="Calibri"/>
              </a:rPr>
              <a:t>From conflicting evidence to governed requirements.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38912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  <a:latin typeface="Calibri"/>
              </a:rPr>
              <a:t>“Seeing a button is not approving the button.”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One checkout feature. Three sources. Three answers.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2/8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474720" cy="265176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60A5FA"/>
                </a:solidFill>
                <a:latin typeface="Calibri"/>
              </a:rPr>
              <a:t>BRD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Calibri"/>
              </a:rPr>
              <a:t>UPI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20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  <a:latin typeface="Calibri"/>
              </a:rPr>
              <a:t>“Checkout shall support UPI payments only.”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20240"/>
            <a:ext cx="3474720" cy="265176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Calibri"/>
              </a:rPr>
              <a:t>Card button 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  <a:latin typeface="Calibri"/>
              </a:rPr>
              <a:t>A UI observation. Nobody approved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920240"/>
            <a:ext cx="3474720" cy="265176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205740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Calibri"/>
              </a:rPr>
              <a:t>CLIENT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5146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Calibri"/>
              </a:rPr>
              <a:t>Card in scope, UPI to 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3520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  <a:latin typeface="Calibri"/>
              </a:rPr>
              <a:t>“Checkout shall support Card payments. UPI moves to Phase 2.”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Calibri"/>
              </a:rPr>
              <a:t>AI can extract all three facts. The hard part is deciding what is allowed to become a requirement.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WHY CURRENT AI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Today’s AI picks an answer. Nobody can audit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3/8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322320" cy="91440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32308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8FAFC"/>
                </a:solidFill>
                <a:latin typeface="Calibri"/>
              </a:rPr>
              <a:t>Documents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0980" y="2039112"/>
            <a:ext cx="32004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19600" y="1737360"/>
            <a:ext cx="3322320" cy="91440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5320" y="1737360"/>
            <a:ext cx="32308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8FAFC"/>
                </a:solidFill>
                <a:latin typeface="Calibri"/>
              </a:rPr>
              <a:t>LLM summary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10499" y="2039112"/>
            <a:ext cx="32004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99119" y="1737360"/>
            <a:ext cx="3322320" cy="91440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4839" y="1737360"/>
            <a:ext cx="32308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1" i="0">
                <a:solidFill>
                  <a:srgbClr val="F8FAFC"/>
                </a:solidFill>
                <a:latin typeface="Calibri"/>
              </a:rPr>
              <a:t>“Card is supported”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108960"/>
            <a:ext cx="82296" cy="13716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46120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Observation becomes 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94760"/>
            <a:ext cx="4892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A visible button is treated as a decision.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10896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108960"/>
            <a:ext cx="82296" cy="13716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Provenance is lost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94760"/>
            <a:ext cx="4892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No link from the answer back to its source.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663440"/>
            <a:ext cx="82296" cy="13716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00600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No explanation of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892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Cannot say what changed, or why.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66344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663440"/>
            <a:ext cx="82296" cy="13716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800600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No safe undo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349240"/>
            <a:ext cx="4892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A withdrawn decision stays baked into the summary.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Gemini extracts the evidence. Code decides the authority.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4/8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8288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Evidence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60320" y="2221992"/>
            <a:ext cx="32004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80360" y="1828800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828800"/>
            <a:ext cx="18288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Citation validation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00600" y="2221992"/>
            <a:ext cx="32004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1828800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828800"/>
            <a:ext cx="18288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Append-only event log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40880" y="2221992"/>
            <a:ext cx="32004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60920" y="1828800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828800"/>
            <a:ext cx="18288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Deterministic resolver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81160" y="2221992"/>
            <a:ext cx="32004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0" y="1828800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1828800"/>
            <a:ext cx="18288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Current BRD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47472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474720"/>
            <a:ext cx="82296" cy="210312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611879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"/>
              </a:rPr>
              <a:t>Gemini = extractor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160520"/>
            <a:ext cx="48920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Reads PDF, screenshot and note.</a:t>
            </a:r>
          </a:p>
          <a:p>
            <a:pPr algn="l">
              <a:spcBef>
                <a:spcPts val="640"/>
              </a:spcBef>
            </a:pPr>
            <a:r>
              <a:rPr sz="1600" b="0" i="0">
                <a:solidFill>
                  <a:srgbClr val="94A3B8"/>
                </a:solidFill>
                <a:latin typeface="Calibri"/>
              </a:rPr>
              <a:t>Returns structured claims constrained to a fixed schema.</a:t>
            </a:r>
          </a:p>
          <a:p>
            <a:pPr algn="l">
              <a:spcBef>
                <a:spcPts val="640"/>
              </a:spcBef>
            </a:pPr>
            <a:r>
              <a:rPr sz="1600" b="0" i="0">
                <a:solidFill>
                  <a:srgbClr val="94A3B8"/>
                </a:solidFill>
                <a:latin typeface="Calibri"/>
              </a:rPr>
              <a:t>Never assigns source IDs. Never grants authority.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47472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3474720"/>
            <a:ext cx="82296" cy="21031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611879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"/>
              </a:rPr>
              <a:t>Code =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160520"/>
            <a:ext cx="48920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A requirement is promoted only if the client note</a:t>
            </a:r>
          </a:p>
          <a:p>
            <a:pPr algn="l">
              <a:spcBef>
                <a:spcPts val="640"/>
              </a:spcBef>
            </a:pPr>
            <a:r>
              <a:rPr sz="1600" b="0" i="0">
                <a:solidFill>
                  <a:srgbClr val="94A3B8"/>
                </a:solidFill>
                <a:latin typeface="Calibri"/>
              </a:rPr>
              <a:t>explicitly changes scope and its quote is verified.</a:t>
            </a:r>
          </a:p>
          <a:p>
            <a:pPr algn="l">
              <a:spcBef>
                <a:spcPts val="640"/>
              </a:spcBef>
            </a:pPr>
            <a:r>
              <a:rPr sz="1600" b="0" i="0">
                <a:solidFill>
                  <a:srgbClr val="94A3B8"/>
                </a:solidFill>
                <a:latin typeface="Calibri"/>
              </a:rPr>
              <a:t>Screenshots can never grant authority.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THE WINNING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DISPUTED → GOVERNED → DISPUTED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5/8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74720" cy="402336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381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  <a:latin typeface="Calibri"/>
              </a:rPr>
              <a:t>BEAT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F59E0B"/>
                </a:solidFill>
                <a:latin typeface="Calibri"/>
              </a:rPr>
              <a:t>DISPUTED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20440"/>
            <a:ext cx="301752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BRD and screenshot conflict.</a:t>
            </a:r>
          </a:p>
          <a:p>
            <a:pPr algn="l">
              <a:spcBef>
                <a:spcPts val="720"/>
              </a:spcBef>
            </a:pPr>
            <a:r>
              <a:rPr sz="1800" b="0" i="0">
                <a:solidFill>
                  <a:srgbClr val="F8FAFC"/>
                </a:solidFill>
                <a:latin typeface="Calibri"/>
              </a:rPr>
              <a:t>Requirement withheld.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474720" cy="402336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381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659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  <a:latin typeface="Calibri"/>
              </a:rPr>
              <a:t>BEAT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22C55E"/>
                </a:solidFill>
                <a:latin typeface="Calibri"/>
              </a:rPr>
              <a:t>GOVERNED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40"/>
            <a:ext cx="301752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Client note explicitly authorizes Card.</a:t>
            </a:r>
          </a:p>
          <a:p>
            <a:pPr algn="l">
              <a:spcBef>
                <a:spcPts val="720"/>
              </a:spcBef>
            </a:pPr>
            <a:r>
              <a:rPr sz="1800" b="0" i="0">
                <a:solidFill>
                  <a:srgbClr val="F8FAFC"/>
                </a:solidFill>
                <a:latin typeface="Calibri"/>
              </a:rPr>
              <a:t>Requirement enters the BRD with its source.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828800"/>
            <a:ext cx="3474720" cy="402336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381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96596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  <a:latin typeface="Calibri"/>
              </a:rPr>
              <a:t>BEAT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F59E0B"/>
                </a:solidFill>
                <a:latin typeface="Calibri"/>
              </a:rPr>
              <a:t>DISPUTED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3520440"/>
            <a:ext cx="301752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Client decision is withdrawn.</a:t>
            </a:r>
          </a:p>
          <a:p>
            <a:pPr algn="l">
              <a:spcBef>
                <a:spcPts val="720"/>
              </a:spcBef>
            </a:pPr>
            <a:r>
              <a:rPr sz="1800" b="0" i="0">
                <a:solidFill>
                  <a:srgbClr val="F8FAFC"/>
                </a:solidFill>
                <a:latin typeface="Calibri"/>
              </a:rPr>
              <a:t>Requirement disappears. The reason stays visible.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  <a:latin typeface="Calibri"/>
              </a:rPr>
              <a:t>Live Interactive Cockpit: 3D Spatial Topology Matrix (Three.js) • Live SSE Evidence Feed • Time-Travel Scrubber • Ask-the-Evidence Q&amp;A • Contradiction Heatmap • Automated Simulation Walkthrough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HOW IT WORKS TECHNICALLY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Four blocks. One accountable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6/8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82296" cy="169164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Gemini structured extraction (Vertex AI route)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Claims constrained to an enum of claim IDs, with quote and proposed scope change. Vertex AI endpoint when GOOGLE_CLOUD_PROJECT is set; deterministic fallback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737360"/>
            <a:ext cx="82296" cy="169164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74519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Code-level quote and schema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231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Quotes must exist in the source text. Screenshots can never govern. Hallucinated claims are rejected; chaos attacks are executed, not scripted.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6616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82296" cy="16916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BigQuery append-only event log (env-gated)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ADDED and REMOVED events streamed to BigQuery when credentials exist; SQLite is the persisted local mirror. Insert-only by application design.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56616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566160"/>
            <a:ext cx="82296" cy="16916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703320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8FAFC"/>
                </a:solidFill>
                <a:latin typeface="Calibri"/>
              </a:rPr>
              <a:t>Live SSE feed + deterministic resolver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519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Evidence streams in real time; resolve(claim_id, active_evidence) recomputes live. Citation integrity is fail-closed: dangling citations refuse to serve.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8640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Cloud integrations are env-gated: the demo runs fully offline on the local mirror; with GCP credentials it streams to BigQuery / Cloud Storage / Vertex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WHAT MAKES SCOPESHIFT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A requirements system, not a document summarizer.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7/8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760720"/>
              </a:tblGrid>
              <a:tr h="6858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8FAFC"/>
                          </a:solidFill>
                          <a:latin typeface="Calibri"/>
                        </a:rPr>
                        <a:t>Typical AI document tool</a:t>
                      </a:r>
                    </a:p>
                  </a:txBody>
                  <a:tcPr anchor="ctr" marL="228600"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8FAFC"/>
                          </a:solidFill>
                          <a:latin typeface="Calibri"/>
                        </a:rPr>
                        <a:t>ScopeShift</a:t>
                      </a:r>
                    </a:p>
                  </a:txBody>
                  <a:tcPr anchor="ctr" marL="228600">
                    <a:solidFill>
                      <a:srgbClr val="2A355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94A3B8"/>
                          </a:solidFill>
                          <a:latin typeface="Calibri"/>
                        </a:rPr>
                        <a:t>Summarizes documents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2C55E"/>
                          </a:solidFill>
                          <a:latin typeface="Calibri"/>
                        </a:rPr>
                        <a:t>Produces governed requirements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94A3B8"/>
                          </a:solidFill>
                          <a:latin typeface="Calibri"/>
                        </a:rPr>
                        <a:t>Trusts model judgment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2C55E"/>
                          </a:solidFill>
                          <a:latin typeface="Calibri"/>
                        </a:rPr>
                        <a:t>Separates extraction from authority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94A3B8"/>
                          </a:solidFill>
                          <a:latin typeface="Calibri"/>
                        </a:rPr>
                        <a:t>Loses provenance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2C55E"/>
                          </a:solidFill>
                          <a:latin typeface="Calibri"/>
                        </a:rPr>
                        <a:t>Every requirement has validated citations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94A3B8"/>
                          </a:solidFill>
                          <a:latin typeface="Calibri"/>
                        </a:rPr>
                        <a:t>Overwrites the current answer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2C55E"/>
                          </a:solidFill>
                          <a:latin typeface="Calibri"/>
                        </a:rPr>
                        <a:t>Replays an append-only history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94A3B8"/>
                          </a:solidFill>
                          <a:latin typeface="Calibri"/>
                        </a:rPr>
                        <a:t>Hard to undo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2C55E"/>
                          </a:solidFill>
                          <a:latin typeface="Calibri"/>
                        </a:rPr>
                        <a:t>Withdrawal recomputes the current BRD</a:t>
                      </a:r>
                    </a:p>
                  </a:txBody>
                  <a:tcPr anchor="ctr" marL="228600">
                    <a:solidFill>
                      <a:srgbClr val="151C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BUILD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Built, tested, and demo-ready.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8/8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5486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737360"/>
            <a:ext cx="2606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Multi-claim extraction +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5486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737360"/>
            <a:ext cx="2606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BigQuery/GCS/Vertex env-gated integrations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73736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9" y="1737360"/>
            <a:ext cx="5486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1737360"/>
            <a:ext cx="2606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Live SSE evidence feed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5468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154680"/>
            <a:ext cx="5486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19" y="3154680"/>
            <a:ext cx="2606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Deterministic resolver + fail-closed citations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15468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154680"/>
            <a:ext cx="5486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154680"/>
            <a:ext cx="2606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Ask-the-evidence + heatmap + 3D twin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315468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5875">
            <a:solidFill>
              <a:srgbClr val="2A3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9" y="3154680"/>
            <a:ext cx="5486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59" y="3154680"/>
            <a:ext cx="2606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90 automated tests green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600" b="1" i="0">
                <a:solidFill>
                  <a:srgbClr val="F8FAFC"/>
                </a:solidFill>
                <a:latin typeface="Calibri"/>
              </a:rPr>
              <a:t>ScopeShift turns AI from a requirements guesser into an accountable requirements system.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APPENDIX: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  <a:latin typeface="Calibri"/>
              </a:rPr>
              <a:t>Baseline: SIMULATED model stand-in — live Gemini run pending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ScopeShift  |  Enterprise Edition  |  Appendix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3108960" cy="50292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254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29260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500" b="1" i="0">
                <a:solidFill>
                  <a:srgbClr val="EF4444"/>
                </a:solidFill>
                <a:latin typeface="Calibri"/>
              </a:rPr>
              <a:t>⚠ SIMULATED — NOT MEASURED ON GEMINI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417320"/>
            <a:ext cx="7498079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mock-gemini-preview stand-in • 5 runs per condition • API-default temperature • source: baseline_out/*/summary.md (unedited). Live 10-run Gemini baseline runs on the stage laptop with GEMINI_API_KEY.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031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3474720"/>
                <a:gridCol w="2103120"/>
              </a:tblGrid>
              <a:tr h="685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anchor="ctr" marL="137160"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Calibri"/>
                        </a:rPr>
                        <a:t>Test A (note present)</a:t>
                      </a:r>
                    </a:p>
                  </a:txBody>
                  <a:tcPr anchor="ctr" marL="137160"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Calibri"/>
                        </a:rPr>
                        <a:t>Test B (screenshot only)</a:t>
                      </a:r>
                    </a:p>
                  </a:txBody>
                  <a:tcPr anchor="ctr" marL="137160"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Calibri"/>
                        </a:rPr>
                        <a:t>Citations</a:t>
                      </a:r>
                    </a:p>
                  </a:txBody>
                  <a:tcPr anchor="ctr" marL="137160">
                    <a:solidFill>
                      <a:srgbClr val="2A355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4A3B8"/>
                          </a:solidFill>
                          <a:latin typeface="Calibri"/>
                        </a:rPr>
                        <a:t>Plain (simulated)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Calibri"/>
                        </a:rPr>
                        <a:t>5/5 Card settled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59E0B"/>
                          </a:solidFill>
                          <a:latin typeface="Calibri"/>
                        </a:rPr>
                        <a:t>0/5 correct — 5/5 settled Card from the UI button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Calibri"/>
                        </a:rPr>
                        <a:t>0 valid / 5 unverifiable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4A3B8"/>
                          </a:solidFill>
                          <a:latin typeface="Calibri"/>
                        </a:rPr>
                        <a:t>Hinted (simulated)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Calibri"/>
                        </a:rPr>
                        <a:t>5/5 Card settled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Calibri"/>
                        </a:rPr>
                        <a:t>5/5 conflict flagged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Calibri"/>
                        </a:rPr>
                        <a:t>5 valid / 0 unverifiable</a:t>
                      </a:r>
                    </a:p>
                  </a:txBody>
                  <a:tcPr anchor="ctr" marL="137160">
                    <a:solidFill>
                      <a:srgbClr val="151C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C55E"/>
                          </a:solidFill>
                          <a:latin typeface="Calibri"/>
                        </a:rPr>
                        <a:t>ScopeShift (deterministic)</a:t>
                      </a:r>
                    </a:p>
                  </a:txBody>
                  <a:tcPr anchor="ctr" marL="137160">
                    <a:solidFill>
                      <a:srgbClr val="1A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C55E"/>
                          </a:solidFill>
                          <a:latin typeface="Calibri"/>
                        </a:rPr>
                        <a:t>GOVERNED on every replay</a:t>
                      </a:r>
                    </a:p>
                  </a:txBody>
                  <a:tcPr anchor="ctr" marL="137160">
                    <a:solidFill>
                      <a:srgbClr val="1A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C55E"/>
                          </a:solidFill>
                          <a:latin typeface="Calibri"/>
                        </a:rPr>
                        <a:t>DISPUTED on every replay — withheld</a:t>
                      </a:r>
                    </a:p>
                  </a:txBody>
                  <a:tcPr anchor="ctr" marL="137160">
                    <a:solidFill>
                      <a:srgbClr val="1A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C55E"/>
                          </a:solidFill>
                          <a:latin typeface="Calibri"/>
                        </a:rPr>
                        <a:t>Code-verified • fail-closed</a:t>
                      </a:r>
                    </a:p>
                  </a:txBody>
                  <a:tcPr anchor="ctr" marL="137160">
                    <a:solidFill>
                      <a:srgbClr val="1A284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1206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151C33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Takeaway: even simulated, the unhinted model treats the visible button as authority 5/5 in Test B.
ScopeShift withholds the requirement deterministically — proven by 90 automated tests, not by model luck.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