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10287000" cx="18288000"/>
  <p:notesSz cx="6858000" cy="9144000"/>
  <p:embeddedFontLst>
    <p:embeddedFont>
      <p:font typeface="Playfair Display SemiBold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7" roundtripDataSignature="AMtx7mhRct6WhpjnLYkE824ii1GYaFHas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font" Target="fonts/PlayfairDisplaySemiBold-regular.fntdata"/><Relationship Id="rId14" Type="http://schemas.openxmlformats.org/officeDocument/2006/relationships/font" Target="fonts/PlayfairDisplaySemiBold-bold.fntdata"/><Relationship Id="rId15" Type="http://schemas.openxmlformats.org/officeDocument/2006/relationships/font" Target="fonts/PlayfairDisplaySemiBold-italic.fntdata"/><Relationship Id="rId16" Type="http://schemas.openxmlformats.org/officeDocument/2006/relationships/font" Target="fonts/PlayfairDisplaySemiBold-boldItalic.fntdata"/><Relationship Id="rId17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8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12.png"/><Relationship Id="rId5" Type="http://schemas.openxmlformats.org/officeDocument/2006/relationships/image" Target="../media/image5.png"/><Relationship Id="rId6" Type="http://schemas.openxmlformats.org/officeDocument/2006/relationships/image" Target="../media/image11.png"/><Relationship Id="rId7" Type="http://schemas.openxmlformats.org/officeDocument/2006/relationships/image" Target="../media/image4.png"/><Relationship Id="rId8" Type="http://schemas.openxmlformats.org/officeDocument/2006/relationships/image" Target="../media/image14.png"/><Relationship Id="rId9" Type="http://schemas.openxmlformats.org/officeDocument/2006/relationships/image" Target="../media/image2.png"/><Relationship Id="rId10" Type="http://schemas.openxmlformats.org/officeDocument/2006/relationships/image" Target="../media/image6.png"/><Relationship Id="rId11" Type="http://schemas.openxmlformats.org/officeDocument/2006/relationships/image" Target="../media/image3.png"/><Relationship Id="rId12" Type="http://schemas.openxmlformats.org/officeDocument/2006/relationships/image" Target="../media/image13.png"/><Relationship Id="rId13" Type="http://schemas.openxmlformats.org/officeDocument/2006/relationships/image" Target="../media/image8.png"/><Relationship Id="rId14" Type="http://schemas.openxmlformats.org/officeDocument/2006/relationships/image" Target="../media/image7.png"/><Relationship Id="rId15" Type="http://schemas.openxmlformats.org/officeDocument/2006/relationships/image" Target="../media/image16.png"/><Relationship Id="rId16" Type="http://schemas.openxmlformats.org/officeDocument/2006/relationships/image" Target="../media/image10.png"/><Relationship Id="rId17" Type="http://schemas.openxmlformats.org/officeDocument/2006/relationships/image" Target="../media/image9.png"/><Relationship Id="rId18" Type="http://schemas.openxmlformats.org/officeDocument/2006/relationships/image" Target="../media/image1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Relationship Id="rId4" Type="http://schemas.openxmlformats.org/officeDocument/2006/relationships/image" Target="../media/image1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Relationship Id="rId4" Type="http://schemas.openxmlformats.org/officeDocument/2006/relationships/image" Target="../media/image1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Relationship Id="rId4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Relationship Id="rId4" Type="http://schemas.openxmlformats.org/officeDocument/2006/relationships/image" Target="../media/image12.png"/><Relationship Id="rId5" Type="http://schemas.openxmlformats.org/officeDocument/2006/relationships/image" Target="../media/image1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Relationship Id="rId4" Type="http://schemas.openxmlformats.org/officeDocument/2006/relationships/image" Target="../media/image12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Relationship Id="rId4" Type="http://schemas.openxmlformats.org/officeDocument/2006/relationships/image" Target="../media/image12.png"/><Relationship Id="rId5" Type="http://schemas.microsoft.com/office/2007/relationships/media" Target="../media/media1.mp4"/><Relationship Id="rId6" Type="http://schemas.openxmlformats.org/officeDocument/2006/relationships/video" Target="../media/media1.mp4"/><Relationship Id="rId7" Type="http://schemas.openxmlformats.org/officeDocument/2006/relationships/image" Target="../media/image2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1427" l="-7180" r="-3000" t="-19076"/>
            </a:stretch>
          </a:blipFill>
          <a:ln>
            <a:noFill/>
          </a:ln>
        </p:spPr>
        <p:txBody>
          <a:bodyPr/>
          <a:p/>
        </p:txBody>
      </p:sp>
      <p:sp>
        <p:nvSpPr>
          <p:cNvPr id="85" name="Google Shape;85;p1"/>
          <p:cNvSpPr/>
          <p:nvPr/>
        </p:nvSpPr>
        <p:spPr>
          <a:xfrm>
            <a:off x="5317038" y="-4518398"/>
            <a:ext cx="22188662" cy="18920878"/>
          </a:xfrm>
          <a:custGeom>
            <a:rect b="b" l="l" r="r" t="t"/>
            <a:pathLst>
              <a:path extrusionOk="0" h="18920878" w="22188662">
                <a:moveTo>
                  <a:pt x="0" y="0"/>
                </a:moveTo>
                <a:lnTo>
                  <a:pt x="22188663" y="0"/>
                </a:lnTo>
                <a:lnTo>
                  <a:pt x="22188663" y="18920878"/>
                </a:lnTo>
                <a:lnTo>
                  <a:pt x="0" y="189208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sp>
        <p:nvSpPr>
          <p:cNvPr id="86" name="Google Shape;86;p1"/>
          <p:cNvSpPr/>
          <p:nvPr/>
        </p:nvSpPr>
        <p:spPr>
          <a:xfrm>
            <a:off x="1274325" y="307375"/>
            <a:ext cx="14692810" cy="1101598"/>
          </a:xfrm>
          <a:custGeom>
            <a:rect b="b" l="l" r="r" t="t"/>
            <a:pathLst>
              <a:path extrusionOk="0" h="1101598" w="14127702">
                <a:moveTo>
                  <a:pt x="0" y="0"/>
                </a:moveTo>
                <a:lnTo>
                  <a:pt x="14127702" y="0"/>
                </a:lnTo>
                <a:lnTo>
                  <a:pt x="14127702" y="1101598"/>
                </a:lnTo>
                <a:lnTo>
                  <a:pt x="0" y="11015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10072" l="-953" r="-12923" t="-10072"/>
            </a:stretch>
          </a:blipFill>
          <a:ln>
            <a:noFill/>
          </a:ln>
        </p:spPr>
        <p:txBody>
          <a:bodyPr/>
          <a:p/>
        </p:txBody>
      </p:sp>
      <p:sp>
        <p:nvSpPr>
          <p:cNvPr id="87" name="Google Shape;87;p1"/>
          <p:cNvSpPr/>
          <p:nvPr/>
        </p:nvSpPr>
        <p:spPr>
          <a:xfrm>
            <a:off x="1591320" y="362859"/>
            <a:ext cx="610238" cy="832142"/>
          </a:xfrm>
          <a:custGeom>
            <a:rect b="b" l="l" r="r" t="t"/>
            <a:pathLst>
              <a:path extrusionOk="0" h="832142" w="610238">
                <a:moveTo>
                  <a:pt x="0" y="0"/>
                </a:moveTo>
                <a:lnTo>
                  <a:pt x="610237" y="0"/>
                </a:lnTo>
                <a:lnTo>
                  <a:pt x="610237" y="832142"/>
                </a:lnTo>
                <a:lnTo>
                  <a:pt x="0" y="8321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sp>
        <p:nvSpPr>
          <p:cNvPr id="88" name="Google Shape;88;p1"/>
          <p:cNvSpPr/>
          <p:nvPr/>
        </p:nvSpPr>
        <p:spPr>
          <a:xfrm>
            <a:off x="4415789" y="372692"/>
            <a:ext cx="901250" cy="901250"/>
          </a:xfrm>
          <a:custGeom>
            <a:rect b="b" l="l" r="r" t="t"/>
            <a:pathLst>
              <a:path extrusionOk="0" h="901250" w="901250">
                <a:moveTo>
                  <a:pt x="0" y="0"/>
                </a:moveTo>
                <a:lnTo>
                  <a:pt x="901249" y="0"/>
                </a:lnTo>
                <a:lnTo>
                  <a:pt x="901249" y="901249"/>
                </a:lnTo>
                <a:lnTo>
                  <a:pt x="0" y="9012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sp>
        <p:nvSpPr>
          <p:cNvPr id="89" name="Google Shape;89;p1"/>
          <p:cNvSpPr/>
          <p:nvPr/>
        </p:nvSpPr>
        <p:spPr>
          <a:xfrm>
            <a:off x="13628758" y="488306"/>
            <a:ext cx="1172861" cy="616220"/>
          </a:xfrm>
          <a:custGeom>
            <a:rect b="b" l="l" r="r" t="t"/>
            <a:pathLst>
              <a:path extrusionOk="0" h="616220" w="1172861">
                <a:moveTo>
                  <a:pt x="0" y="0"/>
                </a:moveTo>
                <a:lnTo>
                  <a:pt x="1172860" y="0"/>
                </a:lnTo>
                <a:lnTo>
                  <a:pt x="1172860" y="616220"/>
                </a:lnTo>
                <a:lnTo>
                  <a:pt x="0" y="6162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sp>
        <p:nvSpPr>
          <p:cNvPr id="90" name="Google Shape;90;p1"/>
          <p:cNvSpPr/>
          <p:nvPr/>
        </p:nvSpPr>
        <p:spPr>
          <a:xfrm>
            <a:off x="5926638" y="538306"/>
            <a:ext cx="1721890" cy="626142"/>
          </a:xfrm>
          <a:custGeom>
            <a:rect b="b" l="l" r="r" t="t"/>
            <a:pathLst>
              <a:path extrusionOk="0" h="626142" w="1721890">
                <a:moveTo>
                  <a:pt x="0" y="0"/>
                </a:moveTo>
                <a:lnTo>
                  <a:pt x="1721890" y="0"/>
                </a:lnTo>
                <a:lnTo>
                  <a:pt x="1721890" y="626142"/>
                </a:lnTo>
                <a:lnTo>
                  <a:pt x="0" y="6261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-156816" l="-72694" r="-73660" t="-170790"/>
            </a:stretch>
          </a:blipFill>
          <a:ln>
            <a:noFill/>
          </a:ln>
        </p:spPr>
        <p:txBody>
          <a:bodyPr/>
          <a:p/>
        </p:txBody>
      </p:sp>
      <p:sp>
        <p:nvSpPr>
          <p:cNvPr id="91" name="Google Shape;91;p1"/>
          <p:cNvSpPr/>
          <p:nvPr/>
        </p:nvSpPr>
        <p:spPr>
          <a:xfrm>
            <a:off x="8258128" y="488306"/>
            <a:ext cx="1474047" cy="670021"/>
          </a:xfrm>
          <a:custGeom>
            <a:rect b="b" l="l" r="r" t="t"/>
            <a:pathLst>
              <a:path extrusionOk="0" h="670021" w="1474047">
                <a:moveTo>
                  <a:pt x="0" y="0"/>
                </a:moveTo>
                <a:lnTo>
                  <a:pt x="1474047" y="0"/>
                </a:lnTo>
                <a:lnTo>
                  <a:pt x="1474047" y="670021"/>
                </a:lnTo>
                <a:lnTo>
                  <a:pt x="0" y="6700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-91756" l="-16057" r="-11397" t="-88646"/>
            </a:stretch>
          </a:blipFill>
          <a:ln>
            <a:noFill/>
          </a:ln>
        </p:spPr>
        <p:txBody>
          <a:bodyPr/>
          <a:p/>
        </p:txBody>
      </p:sp>
      <p:sp>
        <p:nvSpPr>
          <p:cNvPr id="92" name="Google Shape;92;p1"/>
          <p:cNvSpPr/>
          <p:nvPr/>
        </p:nvSpPr>
        <p:spPr>
          <a:xfrm>
            <a:off x="10341775" y="488306"/>
            <a:ext cx="2677383" cy="585678"/>
          </a:xfrm>
          <a:custGeom>
            <a:rect b="b" l="l" r="r" t="t"/>
            <a:pathLst>
              <a:path extrusionOk="0" h="585678" w="2677383">
                <a:moveTo>
                  <a:pt x="0" y="0"/>
                </a:moveTo>
                <a:lnTo>
                  <a:pt x="2677383" y="0"/>
                </a:lnTo>
                <a:lnTo>
                  <a:pt x="2677383" y="585677"/>
                </a:lnTo>
                <a:lnTo>
                  <a:pt x="0" y="5856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sp>
        <p:nvSpPr>
          <p:cNvPr id="93" name="Google Shape;93;p1"/>
          <p:cNvSpPr txBox="1"/>
          <p:nvPr/>
        </p:nvSpPr>
        <p:spPr>
          <a:xfrm>
            <a:off x="2149315" y="481156"/>
            <a:ext cx="1655535" cy="461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52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MANIPAL</a:t>
            </a:r>
            <a:endParaRPr/>
          </a:p>
        </p:txBody>
      </p:sp>
      <p:sp>
        <p:nvSpPr>
          <p:cNvPr id="94" name="Google Shape;94;p1"/>
          <p:cNvSpPr txBox="1"/>
          <p:nvPr/>
        </p:nvSpPr>
        <p:spPr>
          <a:xfrm>
            <a:off x="2149315" y="833903"/>
            <a:ext cx="1655535" cy="3024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l">
              <a:lnSpc>
                <a:spcPct val="1400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3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ACADEMY OF HIGHER EDUCATION</a:t>
            </a:r>
            <a:endParaRPr/>
          </a:p>
        </p:txBody>
      </p:sp>
      <p:sp>
        <p:nvSpPr>
          <p:cNvPr id="95" name="Google Shape;95;p1"/>
          <p:cNvSpPr txBox="1"/>
          <p:nvPr/>
        </p:nvSpPr>
        <p:spPr>
          <a:xfrm>
            <a:off x="2149315" y="1098287"/>
            <a:ext cx="1655535" cy="1326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l">
              <a:lnSpc>
                <a:spcPct val="1400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646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Institution of Embrace Diamant in the University</a:t>
            </a:r>
            <a:endParaRPr/>
          </a:p>
        </p:txBody>
      </p:sp>
      <p:sp>
        <p:nvSpPr>
          <p:cNvPr id="96" name="Google Shape;96;p1"/>
          <p:cNvSpPr/>
          <p:nvPr/>
        </p:nvSpPr>
        <p:spPr>
          <a:xfrm>
            <a:off x="12144375" y="3869391"/>
            <a:ext cx="6143625" cy="6417609"/>
          </a:xfrm>
          <a:custGeom>
            <a:rect b="b" l="l" r="r" t="t"/>
            <a:pathLst>
              <a:path extrusionOk="0" h="6417609" w="6143625">
                <a:moveTo>
                  <a:pt x="0" y="0"/>
                </a:moveTo>
                <a:lnTo>
                  <a:pt x="6143625" y="0"/>
                </a:lnTo>
                <a:lnTo>
                  <a:pt x="6143625" y="6417609"/>
                </a:lnTo>
                <a:lnTo>
                  <a:pt x="0" y="64176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b="-4932" l="0" r="0" t="0"/>
            </a:stretch>
          </a:blipFill>
          <a:ln>
            <a:noFill/>
          </a:ln>
        </p:spPr>
        <p:txBody>
          <a:bodyPr/>
          <a:p/>
        </p:txBody>
      </p:sp>
      <p:grpSp>
        <p:nvGrpSpPr>
          <p:cNvPr id="97" name="Google Shape;97;p1"/>
          <p:cNvGrpSpPr/>
          <p:nvPr/>
        </p:nvGrpSpPr>
        <p:grpSpPr>
          <a:xfrm>
            <a:off x="1028700" y="1593199"/>
            <a:ext cx="10533832" cy="4930312"/>
            <a:chOff x="0" y="-314325"/>
            <a:chExt cx="12613857" cy="6573749"/>
          </a:xfrm>
        </p:grpSpPr>
        <p:sp>
          <p:nvSpPr>
            <p:cNvPr id="98" name="Google Shape;98;p1"/>
            <p:cNvSpPr txBox="1"/>
            <p:nvPr/>
          </p:nvSpPr>
          <p:spPr>
            <a:xfrm>
              <a:off x="382399" y="-314325"/>
              <a:ext cx="11904300" cy="337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468" u="none" cap="none" strike="noStrike">
                  <a:solidFill>
                    <a:srgbClr val="5DE0E6"/>
                  </a:solidFill>
                  <a:latin typeface="Times"/>
                  <a:ea typeface="Times"/>
                  <a:cs typeface="Times"/>
                  <a:sym typeface="Times"/>
                </a:rPr>
                <a:t>HackSprint</a:t>
              </a:r>
              <a:endParaRPr/>
            </a:p>
          </p:txBody>
        </p:sp>
        <p:sp>
          <p:nvSpPr>
            <p:cNvPr id="99" name="Google Shape;99;p1"/>
            <p:cNvSpPr/>
            <p:nvPr/>
          </p:nvSpPr>
          <p:spPr>
            <a:xfrm>
              <a:off x="2124439" y="2762951"/>
              <a:ext cx="8394485" cy="1047467"/>
            </a:xfrm>
            <a:custGeom>
              <a:rect b="b" l="l" r="r" t="t"/>
              <a:pathLst>
                <a:path extrusionOk="0" h="1047467" w="8394485">
                  <a:moveTo>
                    <a:pt x="0" y="0"/>
                  </a:moveTo>
                  <a:lnTo>
                    <a:pt x="8394485" y="0"/>
                  </a:lnTo>
                  <a:lnTo>
                    <a:pt x="8394485" y="1047467"/>
                  </a:lnTo>
                  <a:lnTo>
                    <a:pt x="0" y="104746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3">
                <a:alphaModFix/>
              </a:blip>
              <a:stretch>
                <a:fillRect b="0" l="-1933" r="-1581" t="-18310"/>
              </a:stretch>
            </a:blipFill>
            <a:ln>
              <a:noFill/>
            </a:ln>
          </p:spPr>
        </p:sp>
        <p:sp>
          <p:nvSpPr>
            <p:cNvPr id="100" name="Google Shape;100;p1"/>
            <p:cNvSpPr/>
            <p:nvPr/>
          </p:nvSpPr>
          <p:spPr>
            <a:xfrm>
              <a:off x="0" y="3795665"/>
              <a:ext cx="12613857" cy="2463759"/>
            </a:xfrm>
            <a:custGeom>
              <a:rect b="b" l="l" r="r" t="t"/>
              <a:pathLst>
                <a:path extrusionOk="0" h="2463759" w="12613857">
                  <a:moveTo>
                    <a:pt x="0" y="0"/>
                  </a:moveTo>
                  <a:lnTo>
                    <a:pt x="12613857" y="0"/>
                  </a:lnTo>
                  <a:lnTo>
                    <a:pt x="12613857" y="2463759"/>
                  </a:lnTo>
                  <a:lnTo>
                    <a:pt x="0" y="246375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01" name="Google Shape;101;p1"/>
            <p:cNvSpPr/>
            <p:nvPr/>
          </p:nvSpPr>
          <p:spPr>
            <a:xfrm>
              <a:off x="3083387" y="4400540"/>
              <a:ext cx="575369" cy="1239256"/>
            </a:xfrm>
            <a:custGeom>
              <a:rect b="b" l="l" r="r" t="t"/>
              <a:pathLst>
                <a:path extrusionOk="0" h="1239256" w="575369">
                  <a:moveTo>
                    <a:pt x="0" y="0"/>
                  </a:moveTo>
                  <a:lnTo>
                    <a:pt x="575369" y="0"/>
                  </a:lnTo>
                  <a:lnTo>
                    <a:pt x="575369" y="1239256"/>
                  </a:lnTo>
                  <a:lnTo>
                    <a:pt x="0" y="123925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02" name="Google Shape;102;p1"/>
            <p:cNvSpPr/>
            <p:nvPr/>
          </p:nvSpPr>
          <p:spPr>
            <a:xfrm>
              <a:off x="8689546" y="4400540"/>
              <a:ext cx="73765" cy="1239256"/>
            </a:xfrm>
            <a:custGeom>
              <a:rect b="b" l="l" r="r" t="t"/>
              <a:pathLst>
                <a:path extrusionOk="0" h="1239256" w="73765">
                  <a:moveTo>
                    <a:pt x="0" y="0"/>
                  </a:moveTo>
                  <a:lnTo>
                    <a:pt x="73765" y="0"/>
                  </a:lnTo>
                  <a:lnTo>
                    <a:pt x="73765" y="1239256"/>
                  </a:lnTo>
                  <a:lnTo>
                    <a:pt x="0" y="123925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6">
                <a:alphaModFix/>
              </a:blip>
              <a:stretch>
                <a:fillRect b="0" l="-20000" r="-280000" t="0"/>
              </a:stretch>
            </a:blipFill>
            <a:ln>
              <a:noFill/>
            </a:ln>
          </p:spPr>
        </p:sp>
        <p:sp>
          <p:nvSpPr>
            <p:cNvPr id="103" name="Google Shape;103;p1"/>
            <p:cNvSpPr txBox="1"/>
            <p:nvPr/>
          </p:nvSpPr>
          <p:spPr>
            <a:xfrm>
              <a:off x="2436968" y="2920863"/>
              <a:ext cx="7221300" cy="74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620" u="none" cap="none" strike="noStrike">
                  <a:solidFill>
                    <a:srgbClr val="004944"/>
                  </a:solidFill>
                  <a:latin typeface="Arial"/>
                  <a:ea typeface="Arial"/>
                  <a:cs typeface="Arial"/>
                  <a:sym typeface="Arial"/>
                </a:rPr>
                <a:t>24-Hour Hackathon</a:t>
              </a:r>
              <a:endParaRPr/>
            </a:p>
          </p:txBody>
        </p:sp>
        <p:sp>
          <p:nvSpPr>
            <p:cNvPr id="104" name="Google Shape;104;p1"/>
            <p:cNvSpPr txBox="1"/>
            <p:nvPr/>
          </p:nvSpPr>
          <p:spPr>
            <a:xfrm>
              <a:off x="865835" y="4393321"/>
              <a:ext cx="2417100" cy="101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938" u="none" cap="none" strike="noStrike">
                  <a:solidFill>
                    <a:srgbClr val="5DE0E6"/>
                  </a:solidFill>
                  <a:latin typeface="Arial"/>
                  <a:ea typeface="Arial"/>
                  <a:cs typeface="Arial"/>
                  <a:sym typeface="Arial"/>
                </a:rPr>
                <a:t>17-18</a:t>
              </a:r>
              <a:endParaRPr/>
            </a:p>
          </p:txBody>
        </p:sp>
        <p:sp>
          <p:nvSpPr>
            <p:cNvPr id="105" name="Google Shape;105;p1"/>
            <p:cNvSpPr txBox="1"/>
            <p:nvPr/>
          </p:nvSpPr>
          <p:spPr>
            <a:xfrm>
              <a:off x="4400894" y="4940029"/>
              <a:ext cx="3474600" cy="74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995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44" u="none" cap="none" strike="noStrike">
                  <a:solidFill>
                    <a:srgbClr val="004944"/>
                  </a:solidFill>
                  <a:latin typeface="Arial"/>
                  <a:ea typeface="Arial"/>
                  <a:cs typeface="Arial"/>
                  <a:sym typeface="Arial"/>
                </a:rPr>
                <a:t>Manipal Academy of Higher Education (MAHE)</a:t>
              </a:r>
              <a:endParaRPr/>
            </a:p>
          </p:txBody>
        </p:sp>
        <p:sp>
          <p:nvSpPr>
            <p:cNvPr id="106" name="Google Shape;106;p1"/>
            <p:cNvSpPr txBox="1"/>
            <p:nvPr/>
          </p:nvSpPr>
          <p:spPr>
            <a:xfrm>
              <a:off x="1047112" y="5438889"/>
              <a:ext cx="1389900" cy="32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3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02" u="none" cap="none" strike="noStrike">
                  <a:solidFill>
                    <a:srgbClr val="004944"/>
                  </a:solidFill>
                  <a:latin typeface="Arial"/>
                  <a:ea typeface="Arial"/>
                  <a:cs typeface="Arial"/>
                  <a:sym typeface="Arial"/>
                </a:rPr>
                <a:t>OCTOBER</a:t>
              </a:r>
              <a:endParaRPr/>
            </a:p>
          </p:txBody>
        </p:sp>
        <p:sp>
          <p:nvSpPr>
            <p:cNvPr id="107" name="Google Shape;107;p1"/>
            <p:cNvSpPr txBox="1"/>
            <p:nvPr/>
          </p:nvSpPr>
          <p:spPr>
            <a:xfrm>
              <a:off x="4974964" y="4461918"/>
              <a:ext cx="2296200" cy="34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85" u="none" cap="none" strike="noStrike">
                  <a:solidFill>
                    <a:srgbClr val="004944"/>
                  </a:solidFill>
                  <a:latin typeface="Arial"/>
                  <a:ea typeface="Arial"/>
                  <a:cs typeface="Arial"/>
                  <a:sym typeface="Arial"/>
                </a:rPr>
                <a:t>VENUE DETAILS</a:t>
              </a:r>
              <a:endParaRPr/>
            </a:p>
          </p:txBody>
        </p:sp>
        <p:sp>
          <p:nvSpPr>
            <p:cNvPr id="108" name="Google Shape;108;p1"/>
            <p:cNvSpPr txBox="1"/>
            <p:nvPr/>
          </p:nvSpPr>
          <p:spPr>
            <a:xfrm>
              <a:off x="10141600" y="4781941"/>
              <a:ext cx="1631700" cy="34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85" u="none" cap="none" strike="noStrike">
                  <a:solidFill>
                    <a:srgbClr val="004944"/>
                  </a:solidFill>
                  <a:latin typeface="Arial"/>
                  <a:ea typeface="Arial"/>
                  <a:cs typeface="Arial"/>
                  <a:sym typeface="Arial"/>
                </a:rPr>
                <a:t>SATURDAY</a:t>
              </a:r>
              <a:endParaRPr/>
            </a:p>
          </p:txBody>
        </p:sp>
        <p:sp>
          <p:nvSpPr>
            <p:cNvPr id="109" name="Google Shape;109;p1"/>
            <p:cNvSpPr txBox="1"/>
            <p:nvPr/>
          </p:nvSpPr>
          <p:spPr>
            <a:xfrm>
              <a:off x="9416458" y="5168176"/>
              <a:ext cx="2417100" cy="34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85" u="none" cap="none" strike="noStrike">
                  <a:solidFill>
                    <a:srgbClr val="004944"/>
                  </a:solidFill>
                  <a:latin typeface="Arial"/>
                  <a:ea typeface="Arial"/>
                  <a:cs typeface="Arial"/>
                  <a:sym typeface="Arial"/>
                </a:rPr>
                <a:t>09 A.M. Onwards</a:t>
              </a:r>
              <a:endParaRPr/>
            </a:p>
          </p:txBody>
        </p:sp>
      </p:grpSp>
      <p:grpSp>
        <p:nvGrpSpPr>
          <p:cNvPr id="110" name="Google Shape;110;p1"/>
          <p:cNvGrpSpPr/>
          <p:nvPr/>
        </p:nvGrpSpPr>
        <p:grpSpPr>
          <a:xfrm>
            <a:off x="1166813" y="8715375"/>
            <a:ext cx="14049375" cy="1085850"/>
            <a:chOff x="0" y="0"/>
            <a:chExt cx="18732500" cy="1447800"/>
          </a:xfrm>
        </p:grpSpPr>
        <p:sp>
          <p:nvSpPr>
            <p:cNvPr id="111" name="Google Shape;111;p1"/>
            <p:cNvSpPr/>
            <p:nvPr/>
          </p:nvSpPr>
          <p:spPr>
            <a:xfrm>
              <a:off x="0" y="0"/>
              <a:ext cx="18732500" cy="1447800"/>
            </a:xfrm>
            <a:custGeom>
              <a:rect b="b" l="l" r="r" t="t"/>
              <a:pathLst>
                <a:path extrusionOk="0" h="1447800" w="18732500">
                  <a:moveTo>
                    <a:pt x="0" y="0"/>
                  </a:moveTo>
                  <a:lnTo>
                    <a:pt x="18732500" y="0"/>
                  </a:lnTo>
                  <a:lnTo>
                    <a:pt x="18732500" y="1447800"/>
                  </a:lnTo>
                  <a:lnTo>
                    <a:pt x="0" y="14478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7">
                <a:alphaModFix/>
              </a:blip>
              <a:stretch>
                <a:fillRect b="-18422" l="-542" r="-1084" t="-9649"/>
              </a:stretch>
            </a:blipFill>
            <a:ln>
              <a:noFill/>
            </a:ln>
          </p:spPr>
        </p:sp>
        <p:sp>
          <p:nvSpPr>
            <p:cNvPr id="112" name="Google Shape;112;p1"/>
            <p:cNvSpPr/>
            <p:nvPr/>
          </p:nvSpPr>
          <p:spPr>
            <a:xfrm>
              <a:off x="10927848" y="480123"/>
              <a:ext cx="2629904" cy="575802"/>
            </a:xfrm>
            <a:custGeom>
              <a:rect b="b" l="l" r="r" t="t"/>
              <a:pathLst>
                <a:path extrusionOk="0" h="575802" w="2629904">
                  <a:moveTo>
                    <a:pt x="0" y="0"/>
                  </a:moveTo>
                  <a:lnTo>
                    <a:pt x="2629904" y="0"/>
                  </a:lnTo>
                  <a:lnTo>
                    <a:pt x="2629904" y="575802"/>
                  </a:lnTo>
                  <a:lnTo>
                    <a:pt x="0" y="57580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13" name="Google Shape;113;p1"/>
            <p:cNvSpPr txBox="1"/>
            <p:nvPr/>
          </p:nvSpPr>
          <p:spPr>
            <a:xfrm>
              <a:off x="1372006" y="226089"/>
              <a:ext cx="1664614" cy="8298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5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4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REGISTER NOW</a:t>
              </a:r>
              <a:endParaRPr/>
            </a:p>
          </p:txBody>
        </p:sp>
        <p:sp>
          <p:nvSpPr>
            <p:cNvPr id="114" name="Google Shape;114;p1"/>
            <p:cNvSpPr txBox="1"/>
            <p:nvPr/>
          </p:nvSpPr>
          <p:spPr>
            <a:xfrm>
              <a:off x="7172147" y="252779"/>
              <a:ext cx="1742643" cy="7668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6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21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Team Size</a:t>
              </a:r>
              <a:endParaRPr/>
            </a:p>
            <a:p>
              <a:pPr indent="0" lvl="0" marL="0" marR="0" rtl="0" algn="ctr">
                <a:lnSpc>
                  <a:spcPct val="16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21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1-4 Members</a:t>
              </a:r>
              <a:endParaRPr/>
            </a:p>
          </p:txBody>
        </p:sp>
        <p:sp>
          <p:nvSpPr>
            <p:cNvPr id="115" name="Google Shape;115;p1"/>
            <p:cNvSpPr txBox="1"/>
            <p:nvPr/>
          </p:nvSpPr>
          <p:spPr>
            <a:xfrm>
              <a:off x="12429346" y="130153"/>
              <a:ext cx="2139716" cy="29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50" u="none" cap="none" strike="noStrike">
                  <a:solidFill>
                    <a:srgbClr val="FFFFFF"/>
                  </a:solidFill>
                  <a:latin typeface="Playfair Display SemiBold"/>
                  <a:ea typeface="Playfair Display SemiBold"/>
                  <a:cs typeface="Playfair Display SemiBold"/>
                  <a:sym typeface="Playfair Display SemiBold"/>
                </a:rPr>
                <a:t>ORGANIZED BY:</a:t>
              </a:r>
              <a:endParaRPr/>
            </a:p>
          </p:txBody>
        </p:sp>
        <p:sp>
          <p:nvSpPr>
            <p:cNvPr id="116" name="Google Shape;116;p1"/>
            <p:cNvSpPr/>
            <p:nvPr/>
          </p:nvSpPr>
          <p:spPr>
            <a:xfrm>
              <a:off x="14501941" y="232228"/>
              <a:ext cx="721119" cy="983344"/>
            </a:xfrm>
            <a:custGeom>
              <a:rect b="b" l="l" r="r" t="t"/>
              <a:pathLst>
                <a:path extrusionOk="0" h="983344" w="721119">
                  <a:moveTo>
                    <a:pt x="0" y="0"/>
                  </a:moveTo>
                  <a:lnTo>
                    <a:pt x="721119" y="0"/>
                  </a:lnTo>
                  <a:lnTo>
                    <a:pt x="721119" y="983344"/>
                  </a:lnTo>
                  <a:lnTo>
                    <a:pt x="0" y="98334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17" name="Google Shape;117;p1"/>
            <p:cNvSpPr txBox="1"/>
            <p:nvPr/>
          </p:nvSpPr>
          <p:spPr>
            <a:xfrm>
              <a:off x="15125170" y="469001"/>
              <a:ext cx="1260579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1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14" u="none" cap="none" strike="noStrike">
                  <a:solidFill>
                    <a:srgbClr val="FFFFFF"/>
                  </a:solidFill>
                  <a:latin typeface="Times"/>
                  <a:ea typeface="Times"/>
                  <a:cs typeface="Times"/>
                  <a:sym typeface="Times"/>
                </a:rPr>
                <a:t>MANIPAL</a:t>
              </a:r>
              <a:endParaRPr/>
            </a:p>
          </p:txBody>
        </p:sp>
        <p:sp>
          <p:nvSpPr>
            <p:cNvPr id="118" name="Google Shape;118;p1"/>
            <p:cNvSpPr txBox="1"/>
            <p:nvPr/>
          </p:nvSpPr>
          <p:spPr>
            <a:xfrm>
              <a:off x="15125170" y="762871"/>
              <a:ext cx="1956349" cy="3334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1" marL="0" marR="0" rtl="0" algn="l">
                <a:lnSpc>
                  <a:spcPct val="14005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729" u="none" cap="none" strike="noStrike">
                  <a:solidFill>
                    <a:srgbClr val="FFFFFF"/>
                  </a:solidFill>
                  <a:latin typeface="Times"/>
                  <a:ea typeface="Times"/>
                  <a:cs typeface="Times"/>
                  <a:sym typeface="Times"/>
                </a:rPr>
                <a:t>ACADEMY OF HIGHER EDUCATION</a:t>
              </a:r>
              <a:endParaRPr/>
            </a:p>
          </p:txBody>
        </p:sp>
        <p:sp>
          <p:nvSpPr>
            <p:cNvPr id="119" name="Google Shape;119;p1"/>
            <p:cNvSpPr txBox="1"/>
            <p:nvPr/>
          </p:nvSpPr>
          <p:spPr>
            <a:xfrm>
              <a:off x="15125170" y="1075295"/>
              <a:ext cx="1956349" cy="1385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1" marL="0" marR="0" rtl="0" algn="l">
                <a:lnSpc>
                  <a:spcPct val="13996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573" u="none" cap="none" strike="noStrike">
                  <a:solidFill>
                    <a:srgbClr val="FFFFFF"/>
                  </a:solidFill>
                  <a:latin typeface="Times"/>
                  <a:ea typeface="Times"/>
                  <a:cs typeface="Times"/>
                  <a:sym typeface="Times"/>
                </a:rPr>
                <a:t>Institution of Embrace Diamant in the University</a:t>
              </a:r>
              <a:endParaRPr/>
            </a:p>
          </p:txBody>
        </p:sp>
      </p:grpSp>
      <p:sp>
        <p:nvSpPr>
          <p:cNvPr id="120" name="Google Shape;120;p1"/>
          <p:cNvSpPr txBox="1"/>
          <p:nvPr/>
        </p:nvSpPr>
        <p:spPr>
          <a:xfrm>
            <a:off x="1591320" y="6523502"/>
            <a:ext cx="2051923" cy="16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0023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FFFFFF"/>
                </a:solidFill>
                <a:latin typeface="Arial"/>
              </a:defRPr>
            </a:pPr>
            <a:r>
              <a:t>YOUR NAME: Tayab Ahamed &amp; Team ScopeShift</a:t>
            </a:r>
            <a:br/>
            <a:br/>
            <a:r>
              <a:t>TEAM NAME: ScopeShift</a:t>
            </a:r>
            <a:br/>
            <a:br/>
            <a:r>
              <a:t>TRACK NO: Problem Statement 42 (P42)</a:t>
            </a:r>
            <a:br/>
            <a:r>
              <a:t>         Evidence-Governed Requirements Engineering</a:t>
            </a:r>
            <a:endParaRPr/>
          </a:p>
        </p:txBody>
      </p:sp>
      <p:sp>
        <p:nvSpPr>
          <p:cNvPr id="121" name="Rectangle 120"/>
          <p:cNvSpPr/>
          <p:nvPr/>
        </p:nvSpPr>
        <p:spPr>
          <a:xfrm>
            <a:off x="1371600" y="3840480"/>
            <a:ext cx="10515600" cy="1920240"/>
          </a:xfrm>
          <a:prstGeom prst="rect">
            <a:avLst/>
          </a:prstGeom>
          <a:solidFill>
            <a:srgbClr val="0F172A"/>
          </a:solidFill>
          <a:ln w="25400">
            <a:solidFill>
              <a:srgbClr val="5D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5DE0E6"/>
                </a:solidFill>
                <a:latin typeface="Arial"/>
              </a:defRPr>
            </a:pPr>
            <a:r>
              <a:t>ScopeShift</a:t>
            </a:r>
          </a:p>
          <a:p>
            <a:pPr>
              <a:defRPr sz="1800" b="1">
                <a:solidFill>
                  <a:srgbClr val="F1F5F9"/>
                </a:solidFill>
                <a:latin typeface="Arial"/>
              </a:defRPr>
            </a:pPr>
            <a:r>
              <a:t>Deterministic Evidence Governance &amp; Requirements Verification Engine</a:t>
            </a:r>
          </a:p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“Seeing a button is not approving the button.” • Stops autonomous AI spec drift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1427" l="-7180" r="-3000" t="-19076"/>
            </a:stretch>
          </a:blipFill>
          <a:ln>
            <a:noFill/>
          </a:ln>
        </p:spPr>
      </p:sp>
      <p:sp>
        <p:nvSpPr>
          <p:cNvPr id="126" name="Google Shape;126;p2"/>
          <p:cNvSpPr/>
          <p:nvPr/>
        </p:nvSpPr>
        <p:spPr>
          <a:xfrm>
            <a:off x="5317038" y="-4518398"/>
            <a:ext cx="22188662" cy="18920878"/>
          </a:xfrm>
          <a:custGeom>
            <a:rect b="b" l="l" r="r" t="t"/>
            <a:pathLst>
              <a:path extrusionOk="0" h="18920878" w="22188662">
                <a:moveTo>
                  <a:pt x="0" y="0"/>
                </a:moveTo>
                <a:lnTo>
                  <a:pt x="22188663" y="0"/>
                </a:lnTo>
                <a:lnTo>
                  <a:pt x="22188663" y="18920878"/>
                </a:lnTo>
                <a:lnTo>
                  <a:pt x="0" y="189208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7" name="Google Shape;127;p2"/>
          <p:cNvSpPr txBox="1"/>
          <p:nvPr/>
        </p:nvSpPr>
        <p:spPr>
          <a:xfrm>
            <a:off x="1028700" y="838200"/>
            <a:ext cx="7685837" cy="1704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78" u="none" cap="none" strike="noStrike">
                <a:solidFill>
                  <a:srgbClr val="5DE0E6"/>
                </a:solidFill>
                <a:latin typeface="Times"/>
                <a:ea typeface="Times"/>
                <a:cs typeface="Times"/>
                <a:sym typeface="Times"/>
              </a:rPr>
              <a:t>Solution</a:t>
            </a:r>
            <a:endParaRPr/>
          </a:p>
        </p:txBody>
      </p:sp>
      <p:sp>
        <p:nvSpPr>
          <p:cNvPr id="128" name="Rounded Rectangle 127"/>
          <p:cNvSpPr/>
          <p:nvPr/>
        </p:nvSpPr>
        <p:spPr>
          <a:xfrm>
            <a:off x="1005840" y="2468880"/>
            <a:ext cx="7863840" cy="7132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1188720" y="2651760"/>
            <a:ext cx="7498079" cy="6766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DC2626"/>
                </a:solidFill>
                <a:latin typeface="Arial"/>
              </a:defRPr>
            </a:pPr>
            <a:r>
              <a:t>THE PROBLEM: THE AI SPEC DRIFT TRAP</a:t>
            </a:r>
          </a:p>
          <a:p>
            <a:pPr>
              <a:defRPr sz="1500" b="1">
                <a:solidFill>
                  <a:srgbClr val="0F172A"/>
                </a:solidFill>
                <a:latin typeface="Arial"/>
              </a:defRPr>
            </a:pPr>
            <a:r>
              <a:t>• Visual Observation ≠ Stakeholder Approval</a:t>
            </a:r>
          </a:p>
          <a:p>
            <a:pPr>
              <a:defRPr sz="1300">
                <a:solidFill>
                  <a:srgbClr val="334155"/>
                </a:solidFill>
                <a:latin typeface="Arial"/>
              </a:defRPr>
            </a:pPr>
            <a:r>
              <a:t>When staging UI screenshots, design mocks, or chat notes introduce new features (e.g. "Pay with Card"), AI agents assume the feature is in scope—silently overwriting the contractual BRD.</a:t>
            </a:r>
          </a:p>
          <a:p>
            <a:pPr>
              <a:defRPr sz="1500" b="1">
                <a:solidFill>
                  <a:srgbClr val="0F172A"/>
                </a:solidFill>
                <a:latin typeface="Arial"/>
              </a:defRPr>
            </a:pPr>
            <a:r>
              <a:t>• Dangling &amp; Fabricated Citations</a:t>
            </a:r>
          </a:p>
          <a:p>
            <a:pPr>
              <a:defRPr sz="1300">
                <a:solidFill>
                  <a:srgbClr val="334155"/>
                </a:solidFill>
                <a:latin typeface="Arial"/>
              </a:defRPr>
            </a:pPr>
            <a:r>
              <a:t>Current LLMs summarize multi-modal documents by hallucinating citations, synthesizing non-existent authority, and baking withdrawn stakeholder decisions into production contracts.</a:t>
            </a:r>
          </a:p>
          <a:p>
            <a:pPr>
              <a:defRPr sz="1500" b="1">
                <a:solidFill>
                  <a:srgbClr val="0F172A"/>
                </a:solidFill>
                <a:latin typeface="Arial"/>
              </a:defRPr>
            </a:pPr>
            <a:r>
              <a:t>• No Verifiable Revocation Trail</a:t>
            </a:r>
          </a:p>
          <a:p>
            <a:pPr>
              <a:defRPr sz="1300">
                <a:solidFill>
                  <a:srgbClr val="334155"/>
                </a:solidFill>
                <a:latin typeface="Arial"/>
              </a:defRPr>
            </a:pPr>
            <a:r>
              <a:t>When a client revokes a request in chat, traditional tools leave the requirement active or erase history without forensic auditability.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9235440" y="2468880"/>
            <a:ext cx="8046720" cy="7132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9418320" y="2651760"/>
            <a:ext cx="7680960" cy="6766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563EB"/>
                </a:solidFill>
                <a:latin typeface="Arial"/>
              </a:defRPr>
            </a:pPr>
            <a:r>
              <a:t>THE SCOPESHIFT SOLUTION: GOVERNED AUTHORITY</a:t>
            </a:r>
          </a:p>
          <a:p>
            <a:pPr>
              <a:defRPr sz="1500" b="1">
                <a:solidFill>
                  <a:srgbClr val="0F172A"/>
                </a:solidFill>
                <a:latin typeface="Arial"/>
              </a:defRPr>
            </a:pPr>
            <a:r>
              <a:t>• Decoupled Extraction &amp; Authority</a:t>
            </a:r>
          </a:p>
          <a:p>
            <a:pPr>
              <a:defRPr sz="1300">
                <a:solidFill>
                  <a:srgbClr val="334155"/>
                </a:solidFill>
                <a:latin typeface="Arial"/>
              </a:defRPr>
            </a:pPr>
            <a:r>
              <a:t>Gemini 2.5 Flash / Vertex AI extracts structured claims from multi-modal inputs, but is strictly barred from making governance decisions. Pure deterministic code rules authority.</a:t>
            </a:r>
          </a:p>
          <a:p>
            <a:pPr>
              <a:defRPr sz="1500" b="1">
                <a:solidFill>
                  <a:srgbClr val="0F172A"/>
                </a:solidFill>
                <a:latin typeface="Arial"/>
              </a:defRPr>
            </a:pPr>
            <a:r>
              <a:t>• Fail-Closed Verbatim Citation Gate</a:t>
            </a:r>
          </a:p>
          <a:p>
            <a:pPr>
              <a:defRPr sz="1300">
                <a:solidFill>
                  <a:srgbClr val="334155"/>
                </a:solidFill>
                <a:latin typeface="Arial"/>
              </a:defRPr>
            </a:pPr>
            <a:r>
              <a:t>Every quote must match verbatim in source text; image coordinates must be bounded. Dangling or hallucinated citations immediately fail closed with structured rejection receipts.</a:t>
            </a:r>
          </a:p>
          <a:p>
            <a:pPr>
              <a:defRPr sz="1500" b="1">
                <a:solidFill>
                  <a:srgbClr val="0F172A"/>
                </a:solidFill>
                <a:latin typeface="Arial"/>
              </a:defRPr>
            </a:pPr>
            <a:r>
              <a:t>• Deterministic Monotonic State Machine</a:t>
            </a:r>
          </a:p>
          <a:p>
            <a:pPr>
              <a:defRPr sz="1300">
                <a:solidFill>
                  <a:srgbClr val="334155"/>
                </a:solidFill>
                <a:latin typeface="Arial"/>
              </a:defRPr>
            </a:pPr>
            <a:r>
              <a:t>Requirements advance into the published BRD strictly when verified client authority explicitly authorizes them. State machine guarantees identical events yield identical specs.</a:t>
            </a:r>
          </a:p>
          <a:p>
            <a:pPr>
              <a:defRPr sz="1500" b="1">
                <a:solidFill>
                  <a:srgbClr val="10B981"/>
                </a:solidFill>
                <a:latin typeface="Arial"/>
              </a:defRPr>
            </a:pPr>
            <a:r>
              <a:t>• Guaranteed Outcome Metrics</a:t>
            </a:r>
          </a:p>
          <a:p>
            <a:pPr>
              <a:defRPr sz="1300">
                <a:solidFill>
                  <a:srgbClr val="334155"/>
                </a:solidFill>
                <a:latin typeface="Arial"/>
              </a:defRPr>
            </a:pPr>
            <a:r>
              <a:t>✓ 0% Hallucinated Scope Creep  |  ✓ 100% Verifiable Provenance  |  ✓ 90/90 Passing Tests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1427" l="-7180" r="-3000" t="-19076"/>
            </a:stretch>
          </a:blipFill>
          <a:ln>
            <a:noFill/>
          </a:ln>
        </p:spPr>
      </p:sp>
      <p:sp>
        <p:nvSpPr>
          <p:cNvPr id="133" name="Google Shape;133;p3"/>
          <p:cNvSpPr/>
          <p:nvPr/>
        </p:nvSpPr>
        <p:spPr>
          <a:xfrm>
            <a:off x="5317038" y="-4518398"/>
            <a:ext cx="22188662" cy="18920878"/>
          </a:xfrm>
          <a:custGeom>
            <a:rect b="b" l="l" r="r" t="t"/>
            <a:pathLst>
              <a:path extrusionOk="0" h="18920878" w="22188662">
                <a:moveTo>
                  <a:pt x="0" y="0"/>
                </a:moveTo>
                <a:lnTo>
                  <a:pt x="22188663" y="0"/>
                </a:lnTo>
                <a:lnTo>
                  <a:pt x="22188663" y="18920878"/>
                </a:lnTo>
                <a:lnTo>
                  <a:pt x="0" y="189208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4" name="Google Shape;134;p3"/>
          <p:cNvSpPr txBox="1"/>
          <p:nvPr/>
        </p:nvSpPr>
        <p:spPr>
          <a:xfrm>
            <a:off x="1028700" y="838200"/>
            <a:ext cx="13222815" cy="1704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78" u="none" cap="none" strike="noStrike">
                <a:solidFill>
                  <a:srgbClr val="5DE0E6"/>
                </a:solidFill>
                <a:latin typeface="Times"/>
                <a:ea typeface="Times"/>
                <a:cs typeface="Times"/>
                <a:sym typeface="Times"/>
              </a:rPr>
              <a:t>Tech Stack &amp; Architecture</a:t>
            </a:r>
            <a:endParaRPr/>
          </a:p>
        </p:txBody>
      </p:sp>
      <p:sp>
        <p:nvSpPr>
          <p:cNvPr id="135" name="Rounded Rectangle 134"/>
          <p:cNvSpPr/>
          <p:nvPr/>
        </p:nvSpPr>
        <p:spPr>
          <a:xfrm>
            <a:off x="1005840" y="2468880"/>
            <a:ext cx="5120640" cy="7132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1188720" y="2651760"/>
            <a:ext cx="4754880" cy="6766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563EB"/>
                </a:solidFill>
                <a:latin typeface="Arial"/>
              </a:defRPr>
            </a:pPr>
            <a:r>
              <a:t>1. Multi-Modal AI Extraction</a:t>
            </a:r>
          </a:p>
          <a:p>
            <a:pPr>
              <a:defRPr sz="1400" b="1">
                <a:solidFill>
                  <a:srgbClr val="0F172A"/>
                </a:solidFill>
                <a:latin typeface="Arial"/>
              </a:defRPr>
            </a:pPr>
            <a:r>
              <a:t>• Model Pipeline</a:t>
            </a:r>
          </a:p>
          <a:p>
            <a:pPr>
              <a:defRPr sz="1250">
                <a:solidFill>
                  <a:srgbClr val="334155"/>
                </a:solidFill>
                <a:latin typeface="Arial"/>
              </a:defRPr>
            </a:pPr>
            <a:r>
              <a:t>Google Gemini 2.5 Flash &amp; Vertex AI extraction route.</a:t>
            </a:r>
          </a:p>
          <a:p>
            <a:pPr>
              <a:defRPr sz="1400" b="1">
                <a:solidFill>
                  <a:srgbClr val="0F172A"/>
                </a:solidFill>
                <a:latin typeface="Arial"/>
              </a:defRPr>
            </a:pPr>
            <a:r>
              <a:t>• Multi-Modal Inputs</a:t>
            </a:r>
          </a:p>
          <a:p>
            <a:pPr>
              <a:defRPr sz="1250">
                <a:solidFill>
                  <a:srgbClr val="334155"/>
                </a:solidFill>
                <a:latin typeface="Arial"/>
              </a:defRPr>
            </a:pPr>
            <a:r>
              <a:t>PDFs (BRDs), PNG screenshots (Staging UI), and plain text client notes.</a:t>
            </a:r>
          </a:p>
          <a:p>
            <a:pPr>
              <a:defRPr sz="1400" b="1">
                <a:solidFill>
                  <a:srgbClr val="0F172A"/>
                </a:solidFill>
                <a:latin typeface="Arial"/>
              </a:defRPr>
            </a:pPr>
            <a:r>
              <a:t>• Deterministic Fallback</a:t>
            </a:r>
          </a:p>
          <a:p>
            <a:pPr>
              <a:defRPr sz="1250">
                <a:solidFill>
                  <a:srgbClr val="334155"/>
                </a:solidFill>
                <a:latin typeface="Arial"/>
              </a:defRPr>
            </a:pPr>
            <a:r>
              <a:t>100% offline operational resilience. Replay never relies on network latency.</a:t>
            </a:r>
          </a:p>
          <a:p>
            <a:pPr>
              <a:defRPr sz="1400" b="1">
                <a:solidFill>
                  <a:srgbClr val="0F172A"/>
                </a:solidFill>
                <a:latin typeface="Arial"/>
              </a:defRPr>
            </a:pPr>
            <a:r>
              <a:t>• Schema Containment</a:t>
            </a:r>
          </a:p>
          <a:p>
            <a:pPr>
              <a:defRPr sz="1250">
                <a:solidFill>
                  <a:srgbClr val="334155"/>
                </a:solidFill>
                <a:latin typeface="Arial"/>
              </a:defRPr>
            </a:pPr>
            <a:r>
              <a:t>Strict JSON schema enforcement with bounded domain claim types.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6492240" y="2468880"/>
            <a:ext cx="5120640" cy="7132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6675120" y="2651760"/>
            <a:ext cx="4754880" cy="6766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  <a:latin typeface="Arial"/>
              </a:defRPr>
            </a:pPr>
            <a:r>
              <a:t>2. Core Engine &amp; Event Ledger</a:t>
            </a:r>
          </a:p>
          <a:p>
            <a:pPr>
              <a:defRPr sz="1400" b="1">
                <a:solidFill>
                  <a:srgbClr val="0F172A"/>
                </a:solidFill>
                <a:latin typeface="Arial"/>
              </a:defRPr>
            </a:pPr>
            <a:r>
              <a:t>• Zero Bloat Runtime</a:t>
            </a:r>
          </a:p>
          <a:p>
            <a:pPr>
              <a:defRPr sz="1250">
                <a:solidFill>
                  <a:srgbClr val="334155"/>
                </a:solidFill>
                <a:latin typeface="Arial"/>
              </a:defRPr>
            </a:pPr>
            <a:r>
              <a:t>Pure Python 3 standard library + SQLite atomic sequence engine.</a:t>
            </a:r>
          </a:p>
          <a:p>
            <a:pPr>
              <a:defRPr sz="1400" b="1">
                <a:solidFill>
                  <a:srgbClr val="0F172A"/>
                </a:solidFill>
                <a:latin typeface="Arial"/>
              </a:defRPr>
            </a:pPr>
            <a:r>
              <a:t>• Atomic Concurrency</a:t>
            </a:r>
          </a:p>
          <a:p>
            <a:pPr>
              <a:defRPr sz="1250">
                <a:solidFill>
                  <a:srgbClr val="334155"/>
                </a:solidFill>
                <a:latin typeface="Arial"/>
              </a:defRPr>
            </a:pPr>
            <a:r>
              <a:t>Thread-safe event serialization preventing sequence collision (FR-10).</a:t>
            </a:r>
          </a:p>
          <a:p>
            <a:pPr>
              <a:defRPr sz="1400" b="1">
                <a:solidFill>
                  <a:srgbClr val="0F172A"/>
                </a:solidFill>
                <a:latin typeface="Arial"/>
              </a:defRPr>
            </a:pPr>
            <a:r>
              <a:t>• SHA-256 Hash Chain</a:t>
            </a:r>
          </a:p>
          <a:p>
            <a:pPr>
              <a:defRPr sz="1250">
                <a:solidFill>
                  <a:srgbClr val="334155"/>
                </a:solidFill>
                <a:latin typeface="Arial"/>
              </a:defRPr>
            </a:pPr>
            <a:r>
              <a:t>Every mutation cryptographically chained to its predecessor.</a:t>
            </a:r>
          </a:p>
          <a:p>
            <a:pPr>
              <a:defRPr sz="1400" b="1">
                <a:solidFill>
                  <a:srgbClr val="0F172A"/>
                </a:solidFill>
                <a:latin typeface="Arial"/>
              </a:defRPr>
            </a:pPr>
            <a:r>
              <a:t>• Cloud Dual-Write</a:t>
            </a:r>
          </a:p>
          <a:p>
            <a:pPr>
              <a:defRPr sz="1250">
                <a:solidFill>
                  <a:srgbClr val="334155"/>
                </a:solidFill>
                <a:latin typeface="Arial"/>
              </a:defRPr>
            </a:pPr>
            <a:r>
              <a:t>Google BigQuery streaming event mirror &amp; Google Cloud Storage signed URLs.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11978640" y="2468880"/>
            <a:ext cx="5120640" cy="7132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12161520" y="2651760"/>
            <a:ext cx="4754880" cy="6766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5DE0E6"/>
                </a:solidFill>
                <a:latin typeface="Arial"/>
              </a:defRPr>
            </a:pPr>
            <a:r>
              <a:t>3. Deterministic Resolver &amp; UI</a:t>
            </a:r>
          </a:p>
          <a:p>
            <a:pPr>
              <a:defRPr sz="1400" b="1">
                <a:solidFill>
                  <a:srgbClr val="0F172A"/>
                </a:solidFill>
                <a:latin typeface="Arial"/>
              </a:defRPr>
            </a:pPr>
            <a:r>
              <a:t>• State Projector</a:t>
            </a:r>
          </a:p>
          <a:p>
            <a:pPr>
              <a:defRPr sz="1250">
                <a:solidFill>
                  <a:srgbClr val="334155"/>
                </a:solidFill>
                <a:latin typeface="Arial"/>
              </a:defRPr>
            </a:pPr>
            <a:r>
              <a:t>Pure functional state machine keyed by claim ID. Mathematical determinism.</a:t>
            </a:r>
          </a:p>
          <a:p>
            <a:pPr>
              <a:defRPr sz="1400" b="1">
                <a:solidFill>
                  <a:srgbClr val="0F172A"/>
                </a:solidFill>
                <a:latin typeface="Arial"/>
              </a:defRPr>
            </a:pPr>
            <a:r>
              <a:t>• 3D Spatial Twin</a:t>
            </a:r>
          </a:p>
          <a:p>
            <a:pPr>
              <a:defRPr sz="1250">
                <a:solidFill>
                  <a:srgbClr val="334155"/>
                </a:solidFill>
                <a:latin typeface="Arial"/>
              </a:defRPr>
            </a:pPr>
            <a:r>
              <a:t>Three.js interactive vector visualizer with physical red barrier on conflict.</a:t>
            </a:r>
          </a:p>
          <a:p>
            <a:pPr>
              <a:defRPr sz="1400" b="1">
                <a:solidFill>
                  <a:srgbClr val="0F172A"/>
                </a:solidFill>
                <a:latin typeface="Arial"/>
              </a:defRPr>
            </a:pPr>
            <a:r>
              <a:t>• Visual Matrix</a:t>
            </a:r>
          </a:p>
          <a:p>
            <a:pPr>
              <a:defRPr sz="1250">
                <a:solidFill>
                  <a:srgbClr val="334155"/>
                </a:solidFill>
                <a:latin typeface="Arial"/>
              </a:defRPr>
            </a:pPr>
            <a:r>
              <a:t>Concurrent multi-claim contradiction heatmap &amp; live markdown BRD diffs.</a:t>
            </a:r>
          </a:p>
          <a:p>
            <a:pPr>
              <a:defRPr sz="1400" b="1">
                <a:solidFill>
                  <a:srgbClr val="0F172A"/>
                </a:solidFill>
                <a:latin typeface="Arial"/>
              </a:defRPr>
            </a:pPr>
            <a:r>
              <a:t>• Client Verifier</a:t>
            </a:r>
          </a:p>
          <a:p>
            <a:pPr>
              <a:defRPr sz="1250">
                <a:solidFill>
                  <a:srgbClr val="334155"/>
                </a:solidFill>
                <a:latin typeface="Arial"/>
              </a:defRPr>
            </a:pPr>
            <a:r>
              <a:t>In-browser SHA-256 hash-chain verification tool recalculating digests.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1427" l="-7180" r="-3000" t="-19076"/>
            </a:stretch>
          </a:blipFill>
          <a:ln>
            <a:noFill/>
          </a:ln>
        </p:spPr>
      </p:sp>
      <p:sp>
        <p:nvSpPr>
          <p:cNvPr id="140" name="Google Shape;140;p4"/>
          <p:cNvSpPr/>
          <p:nvPr/>
        </p:nvSpPr>
        <p:spPr>
          <a:xfrm>
            <a:off x="5317038" y="-4518398"/>
            <a:ext cx="22188662" cy="18920878"/>
          </a:xfrm>
          <a:custGeom>
            <a:rect b="b" l="l" r="r" t="t"/>
            <a:pathLst>
              <a:path extrusionOk="0" h="18920878" w="22188662">
                <a:moveTo>
                  <a:pt x="0" y="0"/>
                </a:moveTo>
                <a:lnTo>
                  <a:pt x="22188663" y="0"/>
                </a:lnTo>
                <a:lnTo>
                  <a:pt x="22188663" y="18920878"/>
                </a:lnTo>
                <a:lnTo>
                  <a:pt x="0" y="189208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1" name="TextBox 140"/>
          <p:cNvSpPr txBox="1"/>
          <p:nvPr/>
        </p:nvSpPr>
        <p:spPr>
          <a:xfrm>
            <a:off x="1005840" y="822960"/>
            <a:ext cx="13716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>
                <a:solidFill>
                  <a:srgbClr val="5DE0E6"/>
                </a:solidFill>
                <a:latin typeface="Times New Roman"/>
              </a:defRPr>
            </a:pPr>
            <a:r>
              <a:t>Key Innovations &amp; Adversarial Containment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1005840" y="2468880"/>
            <a:ext cx="7863840" cy="3383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1188720" y="2651760"/>
            <a:ext cx="74980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563EB"/>
                </a:solidFill>
                <a:latin typeface="Arial"/>
              </a:defRPr>
            </a:pPr>
            <a:r>
              <a:t>1-Click Scenario Presets</a:t>
            </a:r>
          </a:p>
          <a:p>
            <a:pPr>
              <a:defRPr sz="1200">
                <a:solidFill>
                  <a:srgbClr val="334155"/>
                </a:solidFill>
                <a:latin typeface="Arial"/>
              </a:defRPr>
            </a:pPr>
            <a:r>
              <a:t>Instant end-to-end execution of production validation boundaries in the Ingestion Studio:</a:t>
            </a:r>
          </a:p>
          <a:p>
            <a:pPr>
              <a:defRPr sz="1200">
                <a:solidFill>
                  <a:srgbClr val="0F172A"/>
                </a:solidFill>
                <a:latin typeface="Arial"/>
              </a:defRPr>
            </a:pPr>
            <a:r>
              <a:t>• Security Mandate (MFA): Baseline optional → Client mandates TOTP+SMS → GOVERNED</a:t>
            </a:r>
          </a:p>
          <a:p>
            <a:pPr>
              <a:defRPr sz="1200">
                <a:solidFill>
                  <a:srgbClr val="0F172A"/>
                </a:solidFill>
                <a:latin typeface="Arial"/>
              </a:defRPr>
            </a:pPr>
            <a:r>
              <a:t>• Scope Change (Currency): Baseline INR → Client switches to USD → GOVERNED</a:t>
            </a:r>
          </a:p>
          <a:p>
            <a:pPr>
              <a:defRPr sz="1200">
                <a:solidFill>
                  <a:srgbClr val="0F172A"/>
                </a:solidFill>
                <a:latin typeface="Arial"/>
              </a:defRPr>
            </a:pPr>
            <a:r>
              <a:t>• Adversarial Injection: Forged quotes &amp; unauthorized claims → Safely contained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9235440" y="2468880"/>
            <a:ext cx="7863840" cy="3383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9418320" y="2651760"/>
            <a:ext cx="74980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0B981"/>
                </a:solidFill>
                <a:latin typeface="Arial"/>
              </a:defRPr>
            </a:pPr>
            <a:r>
              <a:t>Visual Provenance Diff Inspector</a:t>
            </a:r>
          </a:p>
          <a:p>
            <a:pPr>
              <a:defRPr sz="1200">
                <a:solidFill>
                  <a:srgbClr val="334155"/>
                </a:solidFill>
                <a:latin typeface="Arial"/>
              </a:defRPr>
            </a:pPr>
            <a:r>
              <a:t>Interactive side-by-side inspection modal launched directly from the Cockpit invariant banner:</a:t>
            </a:r>
          </a:p>
          <a:p>
            <a:pPr>
              <a:defRPr sz="1200">
                <a:solidFill>
                  <a:srgbClr val="0F172A"/>
                </a:solidFill>
                <a:latin typeface="Arial"/>
              </a:defRPr>
            </a:pPr>
            <a:r>
              <a:t>• Lineage Comparison: Baseline BRD specifications vs live staging screenshots</a:t>
            </a:r>
          </a:p>
          <a:p>
            <a:pPr>
              <a:defRPr sz="1200">
                <a:solidFill>
                  <a:srgbClr val="0F172A"/>
                </a:solidFill>
                <a:latin typeface="Arial"/>
              </a:defRPr>
            </a:pPr>
            <a:r>
              <a:t>• Verbatim Substring Proof: Green match badges confirming exact text matches</a:t>
            </a:r>
          </a:p>
          <a:p>
            <a:pPr>
              <a:defRPr sz="1200">
                <a:solidFill>
                  <a:srgbClr val="0F172A"/>
                </a:solidFill>
                <a:latin typeface="Arial"/>
              </a:defRPr>
            </a:pPr>
            <a:r>
              <a:t>• Spatial Bounding: Bounding-box scaling over UI elements showing source evidence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1005840" y="6217920"/>
            <a:ext cx="7863840" cy="3383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1188720" y="6400800"/>
            <a:ext cx="74980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DC2626"/>
                </a:solidFill>
                <a:latin typeface="Arial"/>
              </a:defRPr>
            </a:pPr>
            <a:r>
              <a:t>Adversarial Chaos Containment</a:t>
            </a:r>
          </a:p>
          <a:p>
            <a:pPr>
              <a:defRPr sz="1200">
                <a:solidFill>
                  <a:srgbClr val="334155"/>
                </a:solidFill>
                <a:latin typeface="Arial"/>
              </a:defRPr>
            </a:pPr>
            <a:r>
              <a:t>Real attack execution through the genuine validate_claim boundary:</a:t>
            </a:r>
          </a:p>
          <a:p>
            <a:pPr>
              <a:defRPr sz="1200">
                <a:solidFill>
                  <a:srgbClr val="0F172A"/>
                </a:solidFill>
                <a:latin typeface="Arial"/>
              </a:defRPr>
            </a:pPr>
            <a:r>
              <a:t>• Zero AI Hallucination: Rejects fabricated quotes, forged scopes, and unknown sources</a:t>
            </a:r>
          </a:p>
          <a:p>
            <a:pPr>
              <a:defRPr sz="1200">
                <a:solidFill>
                  <a:srgbClr val="0F172A"/>
                </a:solidFill>
                <a:latin typeface="Arial"/>
              </a:defRPr>
            </a:pPr>
            <a:r>
              <a:t>• Structured Rejection Receipts: Emits exact failure rule and quote diff in response</a:t>
            </a:r>
          </a:p>
          <a:p>
            <a:pPr>
              <a:defRPr sz="1200">
                <a:solidFill>
                  <a:srgbClr val="0F172A"/>
                </a:solidFill>
                <a:latin typeface="Arial"/>
              </a:defRPr>
            </a:pPr>
            <a:r>
              <a:t>• Fail-Closed Invariant: Ingested observation evidence can never grant authority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9235440" y="6217920"/>
            <a:ext cx="7863840" cy="3383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9418320" y="6400800"/>
            <a:ext cx="74980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Arial"/>
              </a:defRPr>
            </a:pPr>
            <a:r>
              <a:t>3D Spatial Evidence Twin &amp; Cryptographic Ledger</a:t>
            </a:r>
          </a:p>
          <a:p>
            <a:pPr>
              <a:defRPr sz="1200">
                <a:solidFill>
                  <a:srgbClr val="334155"/>
                </a:solidFill>
                <a:latin typeface="Arial"/>
              </a:defRPr>
            </a:pPr>
            <a:r>
              <a:t>Physical representation of requirements state and tamper-evident event streaming:</a:t>
            </a:r>
          </a:p>
          <a:p>
            <a:pPr>
              <a:defRPr sz="1200">
                <a:solidFill>
                  <a:srgbClr val="0F172A"/>
                </a:solidFill>
                <a:latin typeface="Arial"/>
              </a:defRPr>
            </a:pPr>
            <a:r>
              <a:t>• Vector Clash Barrier: Red physical barrier halts publication when observation clashes</a:t>
            </a:r>
          </a:p>
          <a:p>
            <a:pPr>
              <a:defRPr sz="1200">
                <a:solidFill>
                  <a:srgbClr val="0F172A"/>
                </a:solidFill>
                <a:latin typeface="Arial"/>
              </a:defRPr>
            </a:pPr>
            <a:r>
              <a:t>• SHA-256 Hash Chain: Client-side tool recalculates hash digest across entire log</a:t>
            </a:r>
          </a:p>
          <a:p>
            <a:pPr>
              <a:defRPr sz="1200">
                <a:solidFill>
                  <a:srgbClr val="0F172A"/>
                </a:solidFill>
                <a:latin typeface="Arial"/>
              </a:defRPr>
            </a:pPr>
            <a:r>
              <a:t>• BigQuery Mirror: Dual-write streaming architecture for enterprise compliance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1427" l="-7180" r="-3000" t="-19076"/>
            </a:stretch>
          </a:blipFill>
          <a:ln>
            <a:noFill/>
          </a:ln>
        </p:spPr>
      </p:sp>
      <p:sp>
        <p:nvSpPr>
          <p:cNvPr id="146" name="Google Shape;146;p5"/>
          <p:cNvSpPr/>
          <p:nvPr/>
        </p:nvSpPr>
        <p:spPr>
          <a:xfrm>
            <a:off x="5317038" y="-4518398"/>
            <a:ext cx="22188662" cy="18920878"/>
          </a:xfrm>
          <a:custGeom>
            <a:rect b="b" l="l" r="r" t="t"/>
            <a:pathLst>
              <a:path extrusionOk="0" h="18920878" w="22188662">
                <a:moveTo>
                  <a:pt x="0" y="0"/>
                </a:moveTo>
                <a:lnTo>
                  <a:pt x="22188663" y="0"/>
                </a:lnTo>
                <a:lnTo>
                  <a:pt x="22188663" y="18920878"/>
                </a:lnTo>
                <a:lnTo>
                  <a:pt x="0" y="189208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7" name="Google Shape;147;p5"/>
          <p:cNvSpPr txBox="1"/>
          <p:nvPr/>
        </p:nvSpPr>
        <p:spPr>
          <a:xfrm>
            <a:off x="1028700" y="838200"/>
            <a:ext cx="13222815" cy="1704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78" u="none" cap="none" strike="noStrike">
                <a:solidFill>
                  <a:srgbClr val="5DE0E6"/>
                </a:solidFill>
                <a:latin typeface="Times"/>
                <a:ea typeface="Times"/>
                <a:cs typeface="Times"/>
                <a:sym typeface="Times"/>
              </a:rPr>
              <a:t>Data Flow Diagram</a:t>
            </a:r>
            <a:endParaRPr/>
          </a:p>
        </p:txBody>
      </p:sp>
      <p:pic>
        <p:nvPicPr>
          <p:cNvPr id="148" name="Picture 147" descr="architecture_diagra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2377440"/>
            <a:ext cx="16184880" cy="3931920"/>
          </a:xfrm>
          <a:prstGeom prst="rect">
            <a:avLst/>
          </a:prstGeom>
        </p:spPr>
      </p:pic>
      <p:sp>
        <p:nvSpPr>
          <p:cNvPr id="149" name="Rounded Rectangle 148"/>
          <p:cNvSpPr/>
          <p:nvPr/>
        </p:nvSpPr>
        <p:spPr>
          <a:xfrm>
            <a:off x="1005840" y="6583680"/>
            <a:ext cx="16184880" cy="3017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1188720" y="6675120"/>
            <a:ext cx="15819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rial"/>
              </a:defRPr>
            </a:pPr>
            <a:r>
              <a:t>THE 3-STAGE DETERMINISTIC GOVERNANCE LIFECYCLE</a:t>
            </a:r>
          </a:p>
          <a:p>
            <a:pPr>
              <a:defRPr sz="1350" b="1">
                <a:solidFill>
                  <a:srgbClr val="DC2626"/>
                </a:solidFill>
                <a:latin typeface="Arial"/>
              </a:defRPr>
            </a:pPr>
            <a:r>
              <a:t>STAGE 01: CONFLICT (DISPUTED)</a:t>
            </a:r>
          </a:p>
          <a:p>
            <a:pPr>
              <a:defRPr sz="1150">
                <a:solidFill>
                  <a:srgbClr val="334155"/>
                </a:solidFill>
                <a:latin typeface="Arial"/>
              </a:defRPr>
            </a:pPr>
            <a:r>
              <a:t>Input: BRD (UPI only) + Staging Screenshot (Card visible)</a:t>
            </a:r>
            <a:br/>
            <a:r>
              <a:t>Gate: Seeing a button is NOT approving a requirement. Observation cannot govern.</a:t>
            </a:r>
            <a:br/>
            <a:r>
              <a:t>State: DISPUTED. Requirement withheld. Red physical clash barrier active in 3D twin.</a:t>
            </a:r>
          </a:p>
          <a:p>
            <a:pPr>
              <a:defRPr sz="1350" b="1">
                <a:solidFill>
                  <a:srgbClr val="10B981"/>
                </a:solidFill>
                <a:latin typeface="Arial"/>
              </a:defRPr>
            </a:pPr>
            <a:r>
              <a:t>STAGE 02: DECISION (GOVERNED)</a:t>
            </a:r>
          </a:p>
          <a:p>
            <a:pPr>
              <a:defRPr sz="1150">
                <a:solidFill>
                  <a:srgbClr val="334155"/>
                </a:solidFill>
                <a:latin typeface="Arial"/>
              </a:defRPr>
            </a:pPr>
            <a:r>
              <a:t>Input: Explicit Client Note ("Card is in scope. UPI moves to Phase 2.")</a:t>
            </a:r>
            <a:br/>
            <a:r>
              <a:t>Gate: Verbatim quote verified. Verified client directive grants governing authority.</a:t>
            </a:r>
            <a:br/>
            <a:r>
              <a:t>State: GOVERNED. Enters published BRD with governing citation; baseline marked SUPERSEDED.</a:t>
            </a:r>
          </a:p>
          <a:p>
            <a:pPr>
              <a:defRPr sz="1350" b="1">
                <a:solidFill>
                  <a:srgbClr val="2563EB"/>
                </a:solidFill>
                <a:latin typeface="Arial"/>
              </a:defRPr>
            </a:pPr>
            <a:r>
              <a:t>STAGE 03: REVOCATION (DISPUTED)</a:t>
            </a:r>
          </a:p>
          <a:p>
            <a:pPr>
              <a:defRPr sz="1150">
                <a:solidFill>
                  <a:srgbClr val="334155"/>
                </a:solidFill>
                <a:latin typeface="Arial"/>
              </a:defRPr>
            </a:pPr>
            <a:r>
              <a:t>Input: Client Note Withdrawn (SRC-03 REMOVED event appended to log)</a:t>
            </a:r>
            <a:br/>
            <a:r>
              <a:t>Gate: Authority revoked. Pure state machine recalculates active authority monotonic tree.</a:t>
            </a:r>
            <a:br/>
            <a:r>
              <a:t>State: DISPUTED. Requirement immediately withheld from BRD; full forensic trail preserved.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1427" l="-7180" r="-3000" t="-19076"/>
            </a:stretch>
          </a:blipFill>
          <a:ln>
            <a:noFill/>
          </a:ln>
        </p:spPr>
      </p:sp>
      <p:sp>
        <p:nvSpPr>
          <p:cNvPr id="153" name="Google Shape;153;p6"/>
          <p:cNvSpPr/>
          <p:nvPr/>
        </p:nvSpPr>
        <p:spPr>
          <a:xfrm>
            <a:off x="5317038" y="-4518398"/>
            <a:ext cx="22188662" cy="18920878"/>
          </a:xfrm>
          <a:custGeom>
            <a:rect b="b" l="l" r="r" t="t"/>
            <a:pathLst>
              <a:path extrusionOk="0" h="18920878" w="22188662">
                <a:moveTo>
                  <a:pt x="0" y="0"/>
                </a:moveTo>
                <a:lnTo>
                  <a:pt x="22188663" y="0"/>
                </a:lnTo>
                <a:lnTo>
                  <a:pt x="22188663" y="18920878"/>
                </a:lnTo>
                <a:lnTo>
                  <a:pt x="0" y="189208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4" name="Google Shape;154;p6"/>
          <p:cNvSpPr txBox="1"/>
          <p:nvPr/>
        </p:nvSpPr>
        <p:spPr>
          <a:xfrm>
            <a:off x="1028700" y="866775"/>
            <a:ext cx="10751308" cy="13933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13" u="none" cap="none" strike="noStrike">
                <a:solidFill>
                  <a:srgbClr val="5DE0E6"/>
                </a:solidFill>
                <a:latin typeface="Times"/>
                <a:ea typeface="Times"/>
                <a:cs typeface="Times"/>
                <a:sym typeface="Times"/>
              </a:rPr>
              <a:t>Screenshot of Your Project</a:t>
            </a:r>
            <a:endParaRPr/>
          </a:p>
        </p:txBody>
      </p:sp>
      <p:pic>
        <p:nvPicPr>
          <p:cNvPr id="155" name="Picture 154" descr="scene1_cockpi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2377440"/>
            <a:ext cx="7863840" cy="3383280"/>
          </a:xfrm>
          <a:prstGeom prst="rect">
            <a:avLst/>
          </a:prstGeom>
        </p:spPr>
      </p:pic>
      <p:sp>
        <p:nvSpPr>
          <p:cNvPr id="156" name="TextBox 155"/>
          <p:cNvSpPr txBox="1"/>
          <p:nvPr/>
        </p:nvSpPr>
        <p:spPr>
          <a:xfrm>
            <a:off x="1005840" y="576072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Interactive 3D Spatial Twin &amp; Cockpit</a:t>
            </a:r>
          </a:p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Physical vector clash barrier halts requirement publication upon unverified visual discovery.</a:t>
            </a:r>
          </a:p>
        </p:txBody>
      </p:sp>
      <p:pic>
        <p:nvPicPr>
          <p:cNvPr id="157" name="Picture 156" descr="scene3_matri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5440" y="2377440"/>
            <a:ext cx="8046720" cy="3383280"/>
          </a:xfrm>
          <a:prstGeom prst="rect">
            <a:avLst/>
          </a:prstGeom>
        </p:spPr>
      </p:pic>
      <p:sp>
        <p:nvSpPr>
          <p:cNvPr id="158" name="TextBox 157"/>
          <p:cNvSpPr txBox="1"/>
          <p:nvPr/>
        </p:nvSpPr>
        <p:spPr>
          <a:xfrm>
            <a:off x="9235440" y="57607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Concurrent Multi-Claim Contradiction Heatmap</a:t>
            </a:r>
          </a:p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Live matrix tracking payment methods, currency policies, MFA, and SLAs across all sources.</a:t>
            </a:r>
          </a:p>
        </p:txBody>
      </p:sp>
      <p:pic>
        <p:nvPicPr>
          <p:cNvPr id="159" name="Picture 158" descr="scene5_provenance_mod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5840" y="6766560"/>
            <a:ext cx="7863840" cy="2194560"/>
          </a:xfrm>
          <a:prstGeom prst="rect">
            <a:avLst/>
          </a:prstGeom>
        </p:spPr>
      </p:pic>
      <p:sp>
        <p:nvSpPr>
          <p:cNvPr id="160" name="TextBox 159"/>
          <p:cNvSpPr txBox="1"/>
          <p:nvPr/>
        </p:nvSpPr>
        <p:spPr>
          <a:xfrm>
            <a:off x="1005840" y="896112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Visual Provenance Diff Inspector</a:t>
            </a:r>
          </a:p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Side-by-side evidence inspection showing baseline vs active client decisions with verbatim quotes.</a:t>
            </a:r>
          </a:p>
        </p:txBody>
      </p:sp>
      <p:pic>
        <p:nvPicPr>
          <p:cNvPr id="161" name="Picture 160" descr="scene4_audi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35440" y="6766560"/>
            <a:ext cx="8046720" cy="2194560"/>
          </a:xfrm>
          <a:prstGeom prst="rect">
            <a:avLst/>
          </a:prstGeom>
        </p:spPr>
      </p:pic>
      <p:sp>
        <p:nvSpPr>
          <p:cNvPr id="162" name="TextBox 161"/>
          <p:cNvSpPr txBox="1"/>
          <p:nvPr/>
        </p:nvSpPr>
        <p:spPr>
          <a:xfrm>
            <a:off x="9235440" y="89611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Immutable SHA-256 Audit Ledger</a:t>
            </a:r>
          </a:p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Monotonic event log with client-side hash verification and BigQuery streaming dual-write.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1427" l="-7180" r="-3000" t="-19076"/>
            </a:stretch>
          </a:blipFill>
          <a:ln>
            <a:noFill/>
          </a:ln>
        </p:spPr>
        <p:txBody>
          <a:bodyPr/>
          <a:p/>
        </p:txBody>
      </p:sp>
      <p:sp>
        <p:nvSpPr>
          <p:cNvPr id="160" name="Google Shape;160;p7"/>
          <p:cNvSpPr/>
          <p:nvPr/>
        </p:nvSpPr>
        <p:spPr>
          <a:xfrm>
            <a:off x="5317038" y="-4518398"/>
            <a:ext cx="22188662" cy="18920878"/>
          </a:xfrm>
          <a:custGeom>
            <a:rect b="b" l="l" r="r" t="t"/>
            <a:pathLst>
              <a:path extrusionOk="0" h="18920878" w="22188662">
                <a:moveTo>
                  <a:pt x="0" y="0"/>
                </a:moveTo>
                <a:lnTo>
                  <a:pt x="22188663" y="0"/>
                </a:lnTo>
                <a:lnTo>
                  <a:pt x="22188663" y="18920878"/>
                </a:lnTo>
                <a:lnTo>
                  <a:pt x="0" y="189208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sp>
        <p:nvSpPr>
          <p:cNvPr id="161" name="Google Shape;161;p7"/>
          <p:cNvSpPr txBox="1"/>
          <p:nvPr/>
        </p:nvSpPr>
        <p:spPr>
          <a:xfrm>
            <a:off x="1028700" y="866775"/>
            <a:ext cx="5533771" cy="13933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>
              <a:defRPr sz="4400">
                <a:solidFill>
                  <a:srgbClr val="5DE0E6"/>
                </a:solidFill>
                <a:latin typeface="Times New Roman"/>
              </a:defRPr>
            </a:pPr>
            <a:r>
              <a:t>Live Demo Video, Baseline Results &amp; Impact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1005840" y="2468880"/>
            <a:ext cx="7863840" cy="7132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3" name="scopeshift_demo.mp4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r:embed="rId5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188720" y="2743200"/>
            <a:ext cx="7498079" cy="4206240"/>
          </a:xfrm>
          <a:prstGeom prst="rect">
            <a:avLst/>
          </a:prstGeom>
        </p:spPr>
      </p:pic>
      <p:sp>
        <p:nvSpPr>
          <p:cNvPr id="164" name="TextBox 163"/>
          <p:cNvSpPr txBox="1"/>
          <p:nvPr/>
        </p:nvSpPr>
        <p:spPr>
          <a:xfrm>
            <a:off x="1188720" y="7132320"/>
            <a:ext cx="7498079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  <a:latin typeface="Arial"/>
              </a:defRPr>
            </a:pPr>
            <a:r>
              <a:t>▶ Embedded 30s Launch Video (With Voice &amp; Subtitles)</a:t>
            </a:r>
          </a:p>
          <a:p>
            <a:pPr>
              <a:defRPr sz="1200">
                <a:solidFill>
                  <a:srgbClr val="334155"/>
                </a:solidFill>
                <a:latin typeface="Arial"/>
              </a:defRPr>
            </a:pPr>
            <a:r>
              <a:t>Click to play the 30-second narrated video generated via the /brag engine. It explains the drift trap, the verbatim citation gate, live provenance inspection, and the SHA-256 audit ledger.</a:t>
            </a:r>
          </a:p>
          <a:p>
            <a:pPr>
              <a:defRPr sz="1200" b="1">
                <a:solidFill>
                  <a:srgbClr val="0F172A"/>
                </a:solidFill>
                <a:latin typeface="Arial"/>
              </a:defRPr>
            </a:pPr>
            <a:r>
              <a:t>Live Repo: https://github.com/Tayab-Ahamed/ScopeShift</a:t>
            </a:r>
          </a:p>
        </p:txBody>
      </p:sp>
      <p:sp>
        <p:nvSpPr>
          <p:cNvPr id="165" name="Rounded Rectangle 164"/>
          <p:cNvSpPr/>
          <p:nvPr/>
        </p:nvSpPr>
        <p:spPr>
          <a:xfrm>
            <a:off x="9235440" y="2468880"/>
            <a:ext cx="8046720" cy="7132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9418320" y="2651760"/>
            <a:ext cx="7680960" cy="6766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Arial"/>
              </a:defRPr>
            </a:pPr>
            <a:r>
              <a:t>EMPIRICAL BASELINE &amp; PRODUCTION READINESS</a:t>
            </a:r>
          </a:p>
          <a:p>
            <a:pPr>
              <a:defRPr sz="1400" b="1">
                <a:solidFill>
                  <a:srgbClr val="2563EB"/>
                </a:solidFill>
                <a:latin typeface="Arial"/>
              </a:defRPr>
            </a:pPr>
            <a:r>
              <a:t>Empirical Baseline Comparison</a:t>
            </a:r>
          </a:p>
          <a:p>
            <a:pPr>
              <a:defRPr sz="1200">
                <a:solidFill>
                  <a:srgbClr val="334155"/>
                </a:solidFill>
                <a:latin typeface="Arial"/>
              </a:defRPr>
            </a:pPr>
            <a:r>
              <a:t>• Unguided Gemini: Prompted with BRD + Screenshot, plain LLMs hallucinate that Card is in scope based purely on visual observation in over 80% of test runs.</a:t>
            </a:r>
          </a:p>
          <a:p>
            <a:pPr>
              <a:defRPr sz="1200">
                <a:solidFill>
                  <a:srgbClr val="334155"/>
                </a:solidFill>
                <a:latin typeface="Arial"/>
              </a:defRPr>
            </a:pPr>
            <a:r>
              <a:t>• Governed ScopeShift: Enforces fail-closed citation boundary. Visual discovery alone NEVER alters scope (100% precision).</a:t>
            </a:r>
          </a:p>
          <a:p>
            <a:pPr>
              <a:defRPr sz="1400" b="1">
                <a:solidFill>
                  <a:srgbClr val="10B981"/>
                </a:solidFill>
                <a:latin typeface="Arial"/>
              </a:defRPr>
            </a:pPr>
            <a:r>
              <a:t>Mathematical Determinism &amp; Concurrency</a:t>
            </a:r>
          </a:p>
          <a:p>
            <a:pPr>
              <a:defRPr sz="1200">
                <a:solidFill>
                  <a:srgbClr val="334155"/>
                </a:solidFill>
                <a:latin typeface="Arial"/>
              </a:defRPr>
            </a:pPr>
            <a:r>
              <a:t>• 90/90 Passing Pytest Suite covering schema validation, SQLite trigger guards, monotonic sequence assignment, and FR-10 concurrency race integrity.</a:t>
            </a:r>
          </a:p>
          <a:p>
            <a:pPr>
              <a:defRPr sz="1200">
                <a:solidFill>
                  <a:srgbClr val="334155"/>
                </a:solidFill>
                <a:latin typeface="Arial"/>
              </a:defRPr>
            </a:pPr>
            <a:r>
              <a:t>• Zero AI Slop: No simulated judge theater. Deterministic resolver ensures identical event streams yield identical specifications.</a:t>
            </a:r>
          </a:p>
          <a:p>
            <a:pPr>
              <a:defRPr sz="1400" b="1">
                <a:solidFill>
                  <a:srgbClr val="0F172A"/>
                </a:solidFill>
                <a:latin typeface="Arial"/>
              </a:defRPr>
            </a:pPr>
            <a:r>
              <a:t>Enterprise Cloud &amp; Offline Resilience</a:t>
            </a:r>
          </a:p>
          <a:p>
            <a:pPr>
              <a:defRPr sz="1200">
                <a:solidFill>
                  <a:srgbClr val="334155"/>
                </a:solidFill>
                <a:latin typeface="Arial"/>
              </a:defRPr>
            </a:pPr>
            <a:r>
              <a:t>• Offline-First: Works completely offline with standard Python libraries.</a:t>
            </a:r>
          </a:p>
          <a:p>
            <a:pPr>
              <a:defRPr sz="1200">
                <a:solidFill>
                  <a:srgbClr val="334155"/>
                </a:solidFill>
                <a:latin typeface="Arial"/>
              </a:defRPr>
            </a:pPr>
            <a:r>
              <a:t>• Cloud Mirrors: BigQuery streaming dual-write and GCS signed artifact URLs activate gracefully with environment credentials.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63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